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1" r:id="rId4"/>
  </p:sldMasterIdLst>
  <p:notesMasterIdLst>
    <p:notesMasterId r:id="rId19"/>
  </p:notesMasterIdLst>
  <p:handoutMasterIdLst>
    <p:handoutMasterId r:id="rId20"/>
  </p:handoutMasterIdLst>
  <p:sldIdLst>
    <p:sldId id="321" r:id="rId5"/>
    <p:sldId id="269" r:id="rId6"/>
    <p:sldId id="276" r:id="rId7"/>
    <p:sldId id="277" r:id="rId8"/>
    <p:sldId id="279" r:id="rId9"/>
    <p:sldId id="280" r:id="rId10"/>
    <p:sldId id="281" r:id="rId11"/>
    <p:sldId id="282" r:id="rId12"/>
    <p:sldId id="283" r:id="rId13"/>
    <p:sldId id="284" r:id="rId14"/>
    <p:sldId id="278" r:id="rId15"/>
    <p:sldId id="286" r:id="rId16"/>
    <p:sldId id="285" r:id="rId17"/>
    <p:sldId id="270" r:id="rId18"/>
  </p:sldIdLst>
  <p:sldSz cx="18288000" cy="10287000"/>
  <p:notesSz cx="6858000" cy="9144000"/>
  <p:embeddedFontLst>
    <p:embeddedFont>
      <p:font typeface="Museo Sans 300" panose="02000000000000000000" charset="0"/>
      <p:regular r:id="rId21"/>
      <p:italic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254BC-C669-4C58-8896-EBBB7531B6D9}" v="1" dt="2026-05-05T09:16:46.154"/>
    <p1510:client id="{A6A84AB0-1939-49CC-8FF8-086EF10AAC9A}" v="51" dt="2026-03-30T07:00:11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669" autoAdjust="0"/>
  </p:normalViewPr>
  <p:slideViewPr>
    <p:cSldViewPr snapToGrid="0">
      <p:cViewPr varScale="1">
        <p:scale>
          <a:sx n="59" d="100"/>
          <a:sy n="59" d="100"/>
        </p:scale>
        <p:origin x="82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B93D41-E753-CA08-512C-7FD9149E95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83311-34CD-10A6-71A7-5FEC1EAC08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391DD-0852-4038-9481-BE0C8E4C0068}" type="datetimeFigureOut">
              <a:rPr lang="en-MY" smtClean="0"/>
              <a:t>14/10/2026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2A957-AB6C-53B4-A4E1-0374492AD1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79F2C-EAFF-B3B1-975D-3770C8024B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BE2F9-A3A4-483F-A619-855FC01C419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959022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1111C-7368-49FD-8B9D-8D05AE4C3340}" type="datetimeFigureOut">
              <a:rPr lang="en-MY" smtClean="0"/>
              <a:t>14/10/2026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F1A-E494-4223-A600-C9DDF71EE41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62439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86465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2563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1575-DA01-B900-44FE-A954F138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4F2DA-8DC3-3957-0AAA-1827CB86B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EC4EE-1434-BD10-6AA8-EA0A77027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0BCFB-48E9-E778-3159-862218F918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40E94-7D3E-E066-B80B-2FBCA7962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31707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973F6-AD4F-7F18-EF42-EA1D068D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1C244-3A18-1185-AE44-8597C8FBB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ADA90-DDE7-9E0C-58C4-9ADA17E6D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BD48E-F156-E617-D877-581DAEC911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275942-2AF3-06C7-C666-C131D7100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9858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AF15E-72B7-DC08-CE37-129828DB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B0107-B6FA-8DC2-7669-5BC615762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56424-51B5-033B-C0D8-9DA49F632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CAA06-B945-195D-1FB4-596C167C7D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D2380-B1A3-68DD-6466-E39412C29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55690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4AC71-BD16-0FF6-7237-BB3B482F5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7487C-8FD6-5872-6404-323E69583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0D378-B0D8-65CA-7596-3CF0E2986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A3831-4400-6D63-788C-ED3E2BC318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1F2F5-1290-ABF2-4E48-3B181C07D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1795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C65D7-7611-A142-2AB8-553B8E68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8844E-FDB9-406A-C3D9-372E3921B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D29C0-3B03-141F-7A20-D85E82BCB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FA077-1C49-F71D-1B0D-304C5AC510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678E1-CDB1-99B9-00DC-212BC4147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2097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97492-B2D8-FB46-1DFF-C909EE12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1A155A-837D-60D6-49A0-F21091592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E1412-13CA-918E-2CFF-A936FFC70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12473-7912-C7D0-3587-DE768D37A4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8EB31-EFF7-89CF-7982-3EDA8387F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9300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EED7B-1BED-F471-FAB5-3A4A66B7C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98DDE-D84F-FDF2-7F52-585E16F49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B4CE6-DFF3-EDD5-9916-6067B064A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8AE0E-F7A1-8920-6414-4A43DBD85A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01141-1A71-4F84-0879-22AF90CE3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0123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74D7-3714-DE1B-C0D1-D479FD75D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3A909-95FF-DBB9-BAA3-AF23CB61E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3AD5D-1BC1-33AB-F116-2B2060862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7FB6D-3883-5A94-DF1E-2BB835FB52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6DD2CE-E645-1D5C-2452-81F05E4AE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83667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3A141-FB5C-0BFF-FB4C-AC53D1D7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6C263-5ED1-1E0C-9328-E5D076512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18F0F-3FA7-E4BA-3D3D-2D8F69060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A59E2-550C-EA81-B4A8-EFBEA3C5DD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999E0-288F-6AF9-7A95-C6599AEB0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061F1A-E494-4223-A600-C9DDF71EE410}" type="slidenum">
              <a:rPr lang="en-MY" smtClean="0"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17900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5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5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3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58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93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3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9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4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Week 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06887" y="1511403"/>
            <a:ext cx="11424666" cy="5204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106887" y="9410700"/>
            <a:ext cx="1142466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426192" y="1942813"/>
            <a:ext cx="9036316" cy="1752887"/>
            <a:chOff x="0" y="0"/>
            <a:chExt cx="2337006" cy="292155"/>
          </a:xfrm>
          <a:noFill/>
        </p:grpSpPr>
        <p:sp>
          <p:nvSpPr>
            <p:cNvPr id="5" name="Freeform 5"/>
            <p:cNvSpPr/>
            <p:nvPr/>
          </p:nvSpPr>
          <p:spPr>
            <a:xfrm>
              <a:off x="0" y="0"/>
              <a:ext cx="2337006" cy="292155"/>
            </a:xfrm>
            <a:custGeom>
              <a:avLst/>
              <a:gdLst/>
              <a:ahLst/>
              <a:cxnLst/>
              <a:rect l="l" t="t" r="r" b="b"/>
              <a:pathLst>
                <a:path w="2337006" h="292155">
                  <a:moveTo>
                    <a:pt x="0" y="0"/>
                  </a:moveTo>
                  <a:lnTo>
                    <a:pt x="2337006" y="0"/>
                  </a:lnTo>
                  <a:lnTo>
                    <a:pt x="2337006" y="292155"/>
                  </a:lnTo>
                  <a:lnTo>
                    <a:pt x="0" y="292155"/>
                  </a:lnTo>
                  <a:close/>
                </a:path>
              </a:pathLst>
            </a:custGeom>
            <a:grpFill/>
            <a:ln w="38100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7006" cy="33025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273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13452568" y="161232"/>
            <a:ext cx="3806732" cy="1350171"/>
          </a:xfrm>
          <a:custGeom>
            <a:avLst/>
            <a:gdLst/>
            <a:ahLst/>
            <a:cxnLst/>
            <a:rect l="l" t="t" r="r" b="b"/>
            <a:pathLst>
              <a:path w="3806732" h="1350171">
                <a:moveTo>
                  <a:pt x="0" y="0"/>
                </a:moveTo>
                <a:lnTo>
                  <a:pt x="3806732" y="0"/>
                </a:lnTo>
                <a:lnTo>
                  <a:pt x="3806732" y="1350171"/>
                </a:lnTo>
                <a:lnTo>
                  <a:pt x="0" y="1350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" y="0"/>
            <a:ext cx="6106886" cy="10286998"/>
            <a:chOff x="-10330" y="-104775"/>
            <a:chExt cx="1377733" cy="2182730"/>
          </a:xfrm>
        </p:grpSpPr>
        <p:sp>
          <p:nvSpPr>
            <p:cNvPr id="9" name="Freeform 9"/>
            <p:cNvSpPr/>
            <p:nvPr/>
          </p:nvSpPr>
          <p:spPr>
            <a:xfrm>
              <a:off x="-10330" y="-104775"/>
              <a:ext cx="1377733" cy="2182730"/>
            </a:xfrm>
            <a:custGeom>
              <a:avLst/>
              <a:gdLst/>
              <a:ahLst/>
              <a:cxnLst/>
              <a:rect l="l" t="t" r="r" b="b"/>
              <a:pathLst>
                <a:path w="1282673" h="2091166">
                  <a:moveTo>
                    <a:pt x="0" y="0"/>
                  </a:moveTo>
                  <a:lnTo>
                    <a:pt x="1282673" y="0"/>
                  </a:lnTo>
                  <a:lnTo>
                    <a:pt x="1282673" y="2091166"/>
                  </a:lnTo>
                  <a:lnTo>
                    <a:pt x="0" y="2091166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282673" cy="1906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50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99" b="0" i="0" u="none" strike="noStrike" kern="1200" cap="none" spc="135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/>
                  <a:ea typeface="Aptos"/>
                  <a:cs typeface="Aptos"/>
                  <a:sym typeface="Aptos"/>
                </a:rPr>
                <a:t>Insert relevant picture related to the topic</a:t>
              </a:r>
            </a:p>
            <a:p>
              <a:pPr marL="0" marR="0" lvl="0" indent="0" algn="ctr" defTabSz="457200" rtl="0" eaLnBrk="1" fontAlgn="auto" latinLnBrk="0" hangingPunct="1">
                <a:lnSpc>
                  <a:spcPts val="501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99" b="0" i="0" u="none" strike="noStrike" kern="1200" cap="none" spc="13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483600" y="4718912"/>
            <a:ext cx="11424666" cy="2213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6688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WEEK 06 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MY" sz="4400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Search Engineering: Package, Tests, CLI and Benchmark</a:t>
            </a:r>
            <a:endParaRPr lang="en-US" sz="4400" b="1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65993" y="2479851"/>
            <a:ext cx="6429692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304815">
              <a:lnSpc>
                <a:spcPts val="2837"/>
              </a:lnSpc>
              <a:defRPr/>
            </a:pPr>
            <a:r>
              <a:rPr lang="en-US" sz="2800" spc="69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TGB2013/TFB2073/TEB2023_092 : Artificial Intelligence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85066" y="7789617"/>
            <a:ext cx="8221734" cy="804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9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DEPARTMENT OF COMPUTING</a:t>
            </a:r>
          </a:p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spc="90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FACULTY OF SCIENCE, MANAGEMENT &amp; COMPUTING</a:t>
            </a:r>
            <a:r>
              <a:rPr kumimoji="0" lang="en-US" sz="2200" b="0" i="0" u="none" strike="noStrike" kern="1200" cap="none" spc="9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Aptos"/>
                <a:cs typeface="Segoe UI" panose="020B0502040204020203" pitchFamily="34" charset="0"/>
                <a:sym typeface="Aptos"/>
              </a:rPr>
              <a:t> 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486EF194-5755-EE7E-90D6-9FC063183FE5}"/>
              </a:ext>
            </a:extLst>
          </p:cNvPr>
          <p:cNvSpPr txBox="1">
            <a:spLocks/>
          </p:cNvSpPr>
          <p:nvPr/>
        </p:nvSpPr>
        <p:spPr>
          <a:xfrm>
            <a:off x="6629400" y="9582308"/>
            <a:ext cx="10629900" cy="55399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237490" algn="ctr" fontAlgn="base">
              <a:buNone/>
            </a:pPr>
            <a:r>
              <a:rPr lang="en-US" sz="1000" kern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© 2026 INSTITUTE OF TECHNOLOGY PETRONAS SDN BHD </a:t>
            </a:r>
            <a:endParaRPr lang="en-MY" sz="110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7490" algn="ctr" fontAlgn="base">
              <a:buNone/>
            </a:pPr>
            <a:r>
              <a:rPr lang="en-US" sz="1000" kern="12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rights reserved. No part of this document may be reproduced, stored in a retrieval system or transmitted in any form or by any means (electronic, mechanical, photocopying, recording or otherwise) without the permission of the copyright owner.</a:t>
            </a:r>
            <a:endParaRPr lang="en-MY" sz="110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E8717A-DAE6-83DA-B948-7047270D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2"/>
            <a:ext cx="6106886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147" normalizeH="0" baseline="0" noProof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RECAP FROM PREVIOUS LECTURE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D08FFB3-5EEF-CF58-49C9-126B195322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71DEA40-F5C4-FBD1-C53C-3381F106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AD9A3B-1207-5170-3D6B-BAA0A5D98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2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42DCC3-3277-B543-0ED9-326B081CC652}"/>
              </a:ext>
            </a:extLst>
          </p:cNvPr>
          <p:cNvSpPr txBox="1"/>
          <p:nvPr/>
        </p:nvSpPr>
        <p:spPr>
          <a:xfrm>
            <a:off x="757618" y="1790700"/>
            <a:ext cx="1635352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Lab 1: uninformed search</a:t>
            </a:r>
            <a:br>
              <a:rPr lang="en-MY" sz="2800" dirty="0"/>
            </a:br>
            <a:r>
              <a:rPr lang="en-MY" sz="2800" dirty="0"/>
              <a:t>	1.1 BFS: fewest hops</a:t>
            </a:r>
            <a:br>
              <a:rPr lang="en-MY" sz="2800" dirty="0"/>
            </a:br>
            <a:r>
              <a:rPr lang="en-MY" sz="2800" dirty="0"/>
              <a:t>	1.2 UCS: lowest total cost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Lab 2: heuristic search</a:t>
            </a:r>
            <a:br>
              <a:rPr lang="en-MY" sz="2800" dirty="0"/>
            </a:br>
            <a:r>
              <a:rPr lang="en-MY" sz="2800" dirty="0"/>
              <a:t>	2.1 GBFS: very fast, not always optimal</a:t>
            </a:r>
            <a:br>
              <a:rPr lang="en-MY" sz="2800" dirty="0"/>
            </a:br>
            <a:r>
              <a:rPr lang="en-MY" sz="2800" dirty="0"/>
              <a:t>	2.2 A*: same cost as UCS, about 96% fewer expansions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Haversine heuristic is admissible (never overestimates)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Today: turn script code into a reusable toolkit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9CD0D-972B-FE6D-B005-F472E53C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2F305BD-B647-52A1-7229-8D1C689775AB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0AD37D0-AB7C-531D-442D-316B5352ACD1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EE389B7-4BDC-9F88-5E29-C825141ABF62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1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LEARNING OUTCOMES</a:t>
            </a:r>
            <a:endParaRPr kumimoji="0" lang="en-US" sz="3200" b="1" i="0" u="none" strike="noStrike" kern="1200" cap="none" spc="147" normalizeH="0" baseline="0" noProof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4AC5EDA-CD04-CA81-5505-46F71DF981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84BAFFF-0B17-2D6B-F88C-8FD53E5A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EFAFA90-B6A0-006E-2A2C-78E3AA19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8044F-6D69-5ECE-F229-C0DDFB6CEC83}"/>
              </a:ext>
            </a:extLst>
          </p:cNvPr>
          <p:cNvSpPr txBox="1"/>
          <p:nvPr/>
        </p:nvSpPr>
        <p:spPr>
          <a:xfrm>
            <a:off x="757618" y="1790700"/>
            <a:ext cx="1635352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Explain why search code is packaged in utils/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Run automated tests with </a:t>
            </a:r>
            <a:r>
              <a:rPr lang="en-MY" sz="2800" dirty="0" err="1"/>
              <a:t>pytest</a:t>
            </a:r>
            <a:br>
              <a:rPr lang="en-MY" sz="2800" dirty="0"/>
            </a:br>
            <a:r>
              <a:rPr lang="en-MY" sz="2800" dirty="0"/>
              <a:t>	2.1 Interpret “8 passed”</a:t>
            </a:r>
            <a:br>
              <a:rPr lang="en-MY" sz="2800" dirty="0"/>
            </a:br>
            <a:r>
              <a:rPr lang="en-MY" sz="2800" dirty="0"/>
              <a:t>	2.2 Explain what each test checks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Use the command-line interface</a:t>
            </a:r>
            <a:br>
              <a:rPr lang="en-MY" sz="2800" dirty="0"/>
            </a:br>
            <a:r>
              <a:rPr lang="en-MY" sz="2800" dirty="0"/>
              <a:t>	3.1 Run python -m utils with an algorithm, start and goal</a:t>
            </a:r>
            <a:br>
              <a:rPr lang="en-MY" sz="2800" dirty="0"/>
            </a:br>
            <a:r>
              <a:rPr lang="en-MY" sz="2800" dirty="0"/>
              <a:t>	3.2 Compare CLI output with the Lab 2 result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Benchmark four algorithms on ten routes</a:t>
            </a:r>
          </a:p>
        </p:txBody>
      </p:sp>
    </p:spTree>
    <p:extLst>
      <p:ext uri="{BB962C8B-B14F-4D97-AF65-F5344CB8AC3E}">
        <p14:creationId xmlns:p14="http://schemas.microsoft.com/office/powerpoint/2010/main" val="316299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D2C32-2405-2D6D-2E95-4FEAC1828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C44FB3C-D441-A268-21DB-28FD335B7FB0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B94D0FD-7DD1-81BC-FF9E-48321CC5887F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7ADA04D-2EEC-3768-1CF2-E10510389D1B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147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TOPIC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124E5E4-CE96-F8F9-06CC-0229CED8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FD37AF0-935A-8041-2A98-8EECF509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94D0C17-6852-F3DE-F2D9-1043BAB0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4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1256F-01ED-6251-D28B-5D99463419F9}"/>
              </a:ext>
            </a:extLst>
          </p:cNvPr>
          <p:cNvSpPr txBox="1"/>
          <p:nvPr/>
        </p:nvSpPr>
        <p:spPr>
          <a:xfrm>
            <a:off x="757619" y="1790700"/>
            <a:ext cx="1151534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MY" sz="2800" dirty="0"/>
              <a:t>The pluggable frontier</a:t>
            </a:r>
            <a:r>
              <a:rPr lang="en-MY" sz="2600" dirty="0"/>
              <a:t>	</a:t>
            </a:r>
          </a:p>
          <a:p>
            <a:pPr marL="514350" indent="-514350">
              <a:buAutoNum type="arabicPeriod"/>
            </a:pPr>
            <a:r>
              <a:rPr lang="en-MY" sz="2800" dirty="0"/>
              <a:t>One Interface, Five Algorithm </a:t>
            </a:r>
          </a:p>
          <a:p>
            <a:pPr marL="514350" indent="-514350">
              <a:buAutoNum type="arabicPeriod"/>
            </a:pPr>
            <a:r>
              <a:rPr lang="en-MY" sz="2800" dirty="0"/>
              <a:t>Separate Responsibilities </a:t>
            </a:r>
          </a:p>
          <a:p>
            <a:pPr marL="514350" indent="-514350">
              <a:buAutoNum type="arabicPeriod" startAt="4"/>
            </a:pPr>
            <a:r>
              <a:rPr lang="en-MY" sz="2800" dirty="0"/>
              <a:t>Automated Tests</a:t>
            </a:r>
          </a:p>
          <a:p>
            <a:pPr marL="514350" indent="-514350">
              <a:buAutoNum type="arabicPeriod" startAt="4"/>
            </a:pPr>
            <a:r>
              <a:rPr lang="en-MY" sz="2800" dirty="0"/>
              <a:t>Command-Line Interface</a:t>
            </a:r>
          </a:p>
          <a:p>
            <a:pPr marL="514350" indent="-514350">
              <a:buAutoNum type="arabicPeriod" startAt="4"/>
            </a:pPr>
            <a:r>
              <a:rPr lang="en-MY" sz="2800" dirty="0"/>
              <a:t>Benchmark</a:t>
            </a:r>
          </a:p>
          <a:p>
            <a:r>
              <a:rPr lang="en-MY" sz="2600" dirty="0"/>
              <a:t>	</a:t>
            </a:r>
          </a:p>
          <a:p>
            <a:pPr marL="342900" indent="-342900">
              <a:buFont typeface="+mj-lt"/>
              <a:buAutoNum type="arabicPeriod"/>
            </a:pPr>
            <a:endParaRPr lang="en-MY" sz="2600" dirty="0"/>
          </a:p>
        </p:txBody>
      </p:sp>
    </p:spTree>
    <p:extLst>
      <p:ext uri="{BB962C8B-B14F-4D97-AF65-F5344CB8AC3E}">
        <p14:creationId xmlns:p14="http://schemas.microsoft.com/office/powerpoint/2010/main" val="171779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862E9-F54B-B087-DCBF-6460B684E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848980F-82D1-EA4E-47E6-6EE24D6B39A6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3FDB01E-F971-DBA0-B492-36082CBB6440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34B1EFF-76C9-0A5A-AFD7-3CECD8249562}"/>
              </a:ext>
            </a:extLst>
          </p:cNvPr>
          <p:cNvSpPr txBox="1"/>
          <p:nvPr/>
        </p:nvSpPr>
        <p:spPr>
          <a:xfrm>
            <a:off x="990600" y="300719"/>
            <a:ext cx="9356377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The pluggable frontier</a:t>
            </a:r>
            <a:endParaRPr lang="en-US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8CF1AFE-CF34-F1FE-4311-62830A81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C64631D-62C3-E69A-389C-987D17683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0B01C5-666B-2D11-797F-6C3D0635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5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29406-DD43-521F-000F-E6FC4AAF902A}"/>
              </a:ext>
            </a:extLst>
          </p:cNvPr>
          <p:cNvSpPr txBox="1"/>
          <p:nvPr/>
        </p:nvSpPr>
        <p:spPr>
          <a:xfrm>
            <a:off x="990600" y="1790700"/>
            <a:ext cx="161205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/>
              <a:t>The graph supplies states and successors; the query supplies the goal test. The frontier policy determines the algorithm (Figure 3.1)</a:t>
            </a:r>
            <a:endParaRPr lang="en-MY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2869BE-32A8-85CD-689A-34A877CE3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366" y="3401317"/>
            <a:ext cx="13785114" cy="41324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FD66BC-2933-7E0F-51F2-B2EE751A0CEB}"/>
              </a:ext>
            </a:extLst>
          </p:cNvPr>
          <p:cNvSpPr txBox="1"/>
          <p:nvPr/>
        </p:nvSpPr>
        <p:spPr>
          <a:xfrm>
            <a:off x="990600" y="8006829"/>
            <a:ext cx="161205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800" dirty="0"/>
              <a:t>In utils/core.py, BFS and DFS use pop left and pop, respectively. UCS, GBFS and A⋆ wrap </a:t>
            </a:r>
            <a:r>
              <a:rPr lang="en-MY" sz="2800" dirty="0" err="1"/>
              <a:t>best_first</a:t>
            </a:r>
            <a:r>
              <a:rPr lang="en-MY" sz="2800" dirty="0"/>
              <a:t>, whose mode selects the priority. Weighted A⋆ reuses it with the heuristic multiplied by 1.5.</a:t>
            </a:r>
          </a:p>
        </p:txBody>
      </p:sp>
    </p:spTree>
    <p:extLst>
      <p:ext uri="{BB962C8B-B14F-4D97-AF65-F5344CB8AC3E}">
        <p14:creationId xmlns:p14="http://schemas.microsoft.com/office/powerpoint/2010/main" val="71604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CB08A-026D-7285-7DBF-90D21ED6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8B0266E-934D-B9F4-BFA5-97B6A707EA7D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B02B70A-7F95-EC22-8667-975763840111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F584EC5-EFAD-A34A-9E4D-CE264BAADD42}"/>
              </a:ext>
            </a:extLst>
          </p:cNvPr>
          <p:cNvSpPr txBox="1"/>
          <p:nvPr/>
        </p:nvSpPr>
        <p:spPr>
          <a:xfrm>
            <a:off x="990599" y="451534"/>
            <a:ext cx="935637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Topic 1 - One Interface, Five Algorithm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372B1C8-6321-A8D5-E1E2-31D3C320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8A2120B-3842-2593-4EDA-658E3FE2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2A59D37-E159-FF29-80B2-DB82970A2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6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F4A12-803C-738E-3EA6-57695D5881A7}"/>
              </a:ext>
            </a:extLst>
          </p:cNvPr>
          <p:cNvSpPr txBox="1"/>
          <p:nvPr/>
        </p:nvSpPr>
        <p:spPr>
          <a:xfrm>
            <a:off x="990599" y="1816845"/>
            <a:ext cx="156918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Every algorithm returns </a:t>
            </a:r>
            <a:r>
              <a:rPr lang="en-MY" sz="2800" dirty="0" err="1"/>
              <a:t>SearchResult</a:t>
            </a:r>
            <a:endParaRPr lang="en-MY" sz="2800" dirty="0"/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Seven fields</a:t>
            </a:r>
            <a:br>
              <a:rPr lang="en-MY" sz="2800" dirty="0"/>
            </a:br>
            <a:r>
              <a:rPr lang="en-MY" sz="2800" dirty="0"/>
              <a:t>	2.1 found, path, hops, </a:t>
            </a:r>
            <a:r>
              <a:rPr lang="en-MY" sz="2800" dirty="0" err="1"/>
              <a:t>path_cost_km</a:t>
            </a:r>
            <a:br>
              <a:rPr lang="en-MY" sz="2800" dirty="0"/>
            </a:br>
            <a:r>
              <a:rPr lang="en-MY" sz="2800" dirty="0"/>
              <a:t>	2.2 expanded, </a:t>
            </a:r>
            <a:r>
              <a:rPr lang="en-MY" sz="2800" dirty="0" err="1"/>
              <a:t>max_frontier</a:t>
            </a:r>
            <a:r>
              <a:rPr lang="en-MY" sz="2800" dirty="0"/>
              <a:t>, </a:t>
            </a:r>
            <a:r>
              <a:rPr lang="en-MY" sz="2800" dirty="0" err="1"/>
              <a:t>runtime_ms</a:t>
            </a:r>
            <a:endParaRPr lang="en-MY" sz="2800" dirty="0"/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Why it matters</a:t>
            </a:r>
            <a:br>
              <a:rPr lang="en-MY" sz="2800" dirty="0"/>
            </a:br>
            <a:r>
              <a:rPr lang="en-MY" sz="2800" dirty="0"/>
              <a:t>	3.1 One loop can benchmark every algorithm</a:t>
            </a:r>
            <a:br>
              <a:rPr lang="en-MY" sz="2800" dirty="0"/>
            </a:br>
            <a:r>
              <a:rPr lang="en-MY" sz="2800" dirty="0"/>
              <a:t>	3.2 Results are directly comparable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Toy graph: BFS/DFS cost 7, UCS/GBFS/A* cost 6</a:t>
            </a:r>
          </a:p>
        </p:txBody>
      </p:sp>
    </p:spTree>
    <p:extLst>
      <p:ext uri="{BB962C8B-B14F-4D97-AF65-F5344CB8AC3E}">
        <p14:creationId xmlns:p14="http://schemas.microsoft.com/office/powerpoint/2010/main" val="2488077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0A4C-7A23-857D-4DD3-E714FFEA7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40FD8FD-092D-0A12-5B5E-EE23B3325479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2BF8209-3853-BF21-AFEC-70257F7F6D1B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409E660-C39F-3B8B-8D56-4398C913D341}"/>
              </a:ext>
            </a:extLst>
          </p:cNvPr>
          <p:cNvSpPr txBox="1"/>
          <p:nvPr/>
        </p:nvSpPr>
        <p:spPr>
          <a:xfrm>
            <a:off x="990599" y="451534"/>
            <a:ext cx="935637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Topic 2 - Separate Responsibilities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5087F64-F76B-0B5F-9A2F-16830BB4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ED949CE-85AA-5CC9-E245-66B1726B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2A1277-1ABC-B0BF-84ED-176DC54B7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7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311A8-9771-D020-F5DA-445002381189}"/>
              </a:ext>
            </a:extLst>
          </p:cNvPr>
          <p:cNvSpPr txBox="1"/>
          <p:nvPr/>
        </p:nvSpPr>
        <p:spPr>
          <a:xfrm>
            <a:off x="990599" y="1805959"/>
            <a:ext cx="1593135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utils/ is a Python package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Logic and data</a:t>
            </a:r>
            <a:br>
              <a:rPr lang="en-MY" sz="2800" dirty="0"/>
            </a:br>
            <a:r>
              <a:rPr lang="en-MY" sz="2800" dirty="0"/>
              <a:t>	2.1 </a:t>
            </a:r>
            <a:r>
              <a:rPr lang="en-MY" sz="2800" b="1" dirty="0"/>
              <a:t>core</a:t>
            </a:r>
            <a:r>
              <a:rPr lang="en-MY" sz="2800" dirty="0"/>
              <a:t>.py: five algorithms, knows nothing about airports</a:t>
            </a:r>
            <a:br>
              <a:rPr lang="en-MY" sz="2800" dirty="0"/>
            </a:br>
            <a:r>
              <a:rPr lang="en-MY" sz="2800" dirty="0"/>
              <a:t>	2.2 </a:t>
            </a:r>
            <a:r>
              <a:rPr lang="en-MY" sz="2800" b="1" dirty="0"/>
              <a:t>openflights</a:t>
            </a:r>
            <a:r>
              <a:rPr lang="en-MY" sz="2800" dirty="0"/>
              <a:t>.py: load, clean, compute distances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Interface and checks</a:t>
            </a:r>
            <a:br>
              <a:rPr lang="en-MY" sz="2800" dirty="0"/>
            </a:br>
            <a:r>
              <a:rPr lang="en-MY" sz="2800" dirty="0"/>
              <a:t>	3.1 </a:t>
            </a:r>
            <a:r>
              <a:rPr lang="en-MY" sz="2800" b="1" dirty="0"/>
              <a:t>main</a:t>
            </a:r>
            <a:r>
              <a:rPr lang="en-MY" sz="2800" dirty="0"/>
              <a:t>.py: command line; </a:t>
            </a:r>
            <a:r>
              <a:rPr lang="en-MY" sz="2800" b="1" dirty="0"/>
              <a:t>plotting</a:t>
            </a:r>
            <a:r>
              <a:rPr lang="en-MY" sz="2800" dirty="0"/>
              <a:t>.py: charts</a:t>
            </a:r>
            <a:br>
              <a:rPr lang="en-MY" sz="2800" dirty="0"/>
            </a:br>
            <a:r>
              <a:rPr lang="en-MY" sz="2800" dirty="0"/>
              <a:t>	3.2 </a:t>
            </a:r>
            <a:r>
              <a:rPr lang="en-MY" sz="2800" b="1" dirty="0"/>
              <a:t>test_search</a:t>
            </a:r>
            <a:r>
              <a:rPr lang="en-MY" sz="2800" dirty="0"/>
              <a:t>.py: tests; </a:t>
            </a:r>
            <a:r>
              <a:rPr lang="en-MY" sz="2800" b="1" dirty="0"/>
              <a:t>init</a:t>
            </a:r>
            <a:r>
              <a:rPr lang="en-MY" sz="2800" dirty="0"/>
              <a:t>.py: exports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Change one module without breaking the others</a:t>
            </a:r>
          </a:p>
          <a:p>
            <a:pPr lvl="0"/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1235824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8EBB3-AEAE-8BD9-FF4E-5C98DADB4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315188D-C457-6A0A-5D14-704A413D400D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0CBABC1-7E99-B07A-295C-CEEF884BA30C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11BD3F9-42C9-7512-1F17-0A4847FCBB14}"/>
              </a:ext>
            </a:extLst>
          </p:cNvPr>
          <p:cNvSpPr txBox="1"/>
          <p:nvPr/>
        </p:nvSpPr>
        <p:spPr>
          <a:xfrm>
            <a:off x="990599" y="451534"/>
            <a:ext cx="935637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Topic 3 - Automated Tests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2E8593-813C-0170-45B4-B58DBF07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1377998-7CB6-D7C3-3701-85356043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4F8C59E-D811-5040-8CD4-62CEC88F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8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75ED3-6AF8-4B51-9A98-13EFF79BD170}"/>
              </a:ext>
            </a:extLst>
          </p:cNvPr>
          <p:cNvSpPr txBox="1"/>
          <p:nvPr/>
        </p:nvSpPr>
        <p:spPr>
          <a:xfrm>
            <a:off x="756447" y="1816845"/>
            <a:ext cx="163535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Command: </a:t>
            </a:r>
            <a:r>
              <a:rPr lang="en-MY" sz="2800" dirty="0">
                <a:latin typeface="+mj-lt"/>
              </a:rPr>
              <a:t>python -m </a:t>
            </a:r>
            <a:r>
              <a:rPr lang="en-MY" sz="2800" dirty="0" err="1">
                <a:latin typeface="+mj-lt"/>
              </a:rPr>
              <a:t>pytest</a:t>
            </a:r>
            <a:r>
              <a:rPr lang="en-MY" sz="2800" dirty="0">
                <a:latin typeface="+mj-lt"/>
              </a:rPr>
              <a:t> utils -q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Eight tests cover</a:t>
            </a:r>
            <a:br>
              <a:rPr lang="en-MY" sz="2800" dirty="0"/>
            </a:br>
            <a:r>
              <a:rPr lang="en-MY" sz="2800" dirty="0"/>
              <a:t>	2.1 start = goal, unreachable goal, cycles</a:t>
            </a:r>
            <a:br>
              <a:rPr lang="en-MY" sz="2800" dirty="0"/>
            </a:br>
            <a:r>
              <a:rPr lang="en-MY" sz="2800" dirty="0"/>
              <a:t>	2.2 BFS vs UCS, frontier update, GBFS, negative cost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Why a five-state graph</a:t>
            </a:r>
            <a:br>
              <a:rPr lang="en-MY" sz="2800" dirty="0"/>
            </a:br>
            <a:r>
              <a:rPr lang="en-MY" sz="2800" dirty="0"/>
              <a:t>	3.1 Answer can be checked by hand</a:t>
            </a:r>
            <a:br>
              <a:rPr lang="en-MY" sz="2800" dirty="0"/>
            </a:br>
            <a:r>
              <a:rPr lang="en-MY" sz="2800" dirty="0"/>
              <a:t>	3.2 No dataset, runs in under one second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Expected result: 8 passed</a:t>
            </a:r>
          </a:p>
          <a:p>
            <a:pPr lvl="0"/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516456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792C6-5DF3-8525-A020-CDE4487F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35B1146-D147-0A0F-564B-26B8CF64C0A9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B1B6764-AE3D-B081-A07E-1E46DC9935FA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5500A5F-C0E2-92F3-23FE-0274249E1E29}"/>
              </a:ext>
            </a:extLst>
          </p:cNvPr>
          <p:cNvSpPr txBox="1"/>
          <p:nvPr/>
        </p:nvSpPr>
        <p:spPr>
          <a:xfrm>
            <a:off x="990599" y="451534"/>
            <a:ext cx="935637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Topic 4 - Command-Line Interface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163C9E8-ECD8-8A25-FA83-B191B49B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26FBBB-6FEC-92D7-F36E-150E739F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C42D442-41F3-8A05-C4C9-A1133FCC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9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F625C-3DF7-3DCC-BDE1-60AD38566BAA}"/>
              </a:ext>
            </a:extLst>
          </p:cNvPr>
          <p:cNvSpPr txBox="1"/>
          <p:nvPr/>
        </p:nvSpPr>
        <p:spPr>
          <a:xfrm>
            <a:off x="756447" y="1816845"/>
            <a:ext cx="1635352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MY" sz="2800" dirty="0">
                <a:latin typeface="+mj-lt"/>
              </a:rPr>
              <a:t>python -m utils --algorithm </a:t>
            </a:r>
            <a:r>
              <a:rPr lang="en-MY" sz="2800" dirty="0" err="1">
                <a:latin typeface="+mj-lt"/>
              </a:rPr>
              <a:t>astar</a:t>
            </a:r>
            <a:r>
              <a:rPr lang="en-MY" sz="2800" dirty="0">
                <a:latin typeface="+mj-lt"/>
              </a:rPr>
              <a:t> --start KUL --goal KEF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Options</a:t>
            </a:r>
            <a:br>
              <a:rPr lang="en-MY" sz="2800" dirty="0"/>
            </a:br>
            <a:r>
              <a:rPr lang="en-MY" sz="2800" dirty="0"/>
              <a:t>	2.1 --algorithm: </a:t>
            </a:r>
            <a:r>
              <a:rPr lang="en-MY" sz="2800" dirty="0" err="1"/>
              <a:t>bfs</a:t>
            </a:r>
            <a:r>
              <a:rPr lang="en-MY" sz="2800" dirty="0"/>
              <a:t>, </a:t>
            </a:r>
            <a:r>
              <a:rPr lang="en-MY" sz="2800" dirty="0" err="1"/>
              <a:t>dfs</a:t>
            </a:r>
            <a:r>
              <a:rPr lang="en-MY" sz="2800" dirty="0"/>
              <a:t>, </a:t>
            </a:r>
            <a:r>
              <a:rPr lang="en-MY" sz="2800" dirty="0" err="1"/>
              <a:t>ucs</a:t>
            </a:r>
            <a:r>
              <a:rPr lang="en-MY" sz="2800" dirty="0"/>
              <a:t>, </a:t>
            </a:r>
            <a:r>
              <a:rPr lang="en-MY" sz="2800" dirty="0" err="1"/>
              <a:t>gbfs</a:t>
            </a:r>
            <a:r>
              <a:rPr lang="en-MY" sz="2800" dirty="0"/>
              <a:t>, </a:t>
            </a:r>
            <a:r>
              <a:rPr lang="en-MY" sz="2800" dirty="0" err="1"/>
              <a:t>astar</a:t>
            </a:r>
            <a:br>
              <a:rPr lang="en-MY" sz="2800" dirty="0"/>
            </a:br>
            <a:r>
              <a:rPr lang="en-MY" sz="2800" dirty="0"/>
              <a:t>	2.2 --start and --goal: IATA codes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Expected output</a:t>
            </a:r>
            <a:br>
              <a:rPr lang="en-MY" sz="2800" dirty="0"/>
            </a:br>
            <a:r>
              <a:rPr lang="en-MY" sz="2800" dirty="0"/>
              <a:t>	3.1 hops=4, cost=11,461.3 km, expanded=69</a:t>
            </a:r>
            <a:br>
              <a:rPr lang="en-MY" sz="2800" dirty="0"/>
            </a:br>
            <a:r>
              <a:rPr lang="en-MY" sz="2800" dirty="0"/>
              <a:t>	3.2 KUL -&gt; HKT -&gt; LED -&gt; HEL -&gt; KEF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Same answer as the Lab 2 script: one shared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744554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B6E5-8635-E431-5779-42474E29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566B622-2991-E07C-FF67-7A619065FA8F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B702B13-71BE-2A04-8605-77F706956989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30BAF46-B419-A937-2C43-30DCEE6C7FDB}"/>
              </a:ext>
            </a:extLst>
          </p:cNvPr>
          <p:cNvSpPr txBox="1"/>
          <p:nvPr/>
        </p:nvSpPr>
        <p:spPr>
          <a:xfrm>
            <a:off x="990599" y="451534"/>
            <a:ext cx="9356377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Topic 5 - Benchmark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3AA5020-8A75-9016-A19D-4B24404C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20C52E4-7F40-769E-288E-0DEBFA917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A0F58D-580D-7B97-08D2-9412BB67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10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30AB0-F308-DF54-F80D-A6AF6613B00D}"/>
              </a:ext>
            </a:extLst>
          </p:cNvPr>
          <p:cNvSpPr txBox="1"/>
          <p:nvPr/>
        </p:nvSpPr>
        <p:spPr>
          <a:xfrm>
            <a:off x="756447" y="1519665"/>
            <a:ext cx="1635352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Ten queries × four algorithms (BFS, UCS, GBFS, A*)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Metrics recorded</a:t>
            </a:r>
            <a:br>
              <a:rPr lang="en-MY" sz="2800" dirty="0"/>
            </a:br>
            <a:r>
              <a:rPr lang="en-MY" sz="2800" dirty="0"/>
              <a:t>	2.1 Success rate, mean cost, mean hops</a:t>
            </a:r>
            <a:br>
              <a:rPr lang="en-MY" sz="2800" dirty="0"/>
            </a:br>
            <a:r>
              <a:rPr lang="en-MY" sz="2800" dirty="0"/>
              <a:t>	2.2 Mean expanded states, median runtime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Expected findings</a:t>
            </a:r>
            <a:br>
              <a:rPr lang="en-MY" sz="2800" dirty="0"/>
            </a:br>
            <a:r>
              <a:rPr lang="en-MY" sz="2800" dirty="0"/>
              <a:t>	3.1 A* cost equals UCS on all 10 queries</a:t>
            </a:r>
            <a:br>
              <a:rPr lang="en-MY" sz="2800" dirty="0"/>
            </a:br>
            <a:r>
              <a:rPr lang="en-MY" sz="2800" dirty="0"/>
              <a:t>	3.2 GBFS costlier than UCS on 7 of 10 queries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A* is the best default among exact methods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3CFC79-5BA3-5CC3-98C9-8BEEC3A43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055" y="5584929"/>
            <a:ext cx="12474087" cy="30652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E1B740-ABC0-CD9A-36AE-84B03B31E5AB}"/>
              </a:ext>
            </a:extLst>
          </p:cNvPr>
          <p:cNvSpPr txBox="1"/>
          <p:nvPr/>
        </p:nvSpPr>
        <p:spPr>
          <a:xfrm>
            <a:off x="2396868" y="8829645"/>
            <a:ext cx="126224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000" dirty="0"/>
              <a:t>BFS has the highest cost (optimises hops). GBFS expands least but is costlier. A* matches UCS with a fraction of the work.</a:t>
            </a:r>
          </a:p>
        </p:txBody>
      </p:sp>
    </p:spTree>
    <p:extLst>
      <p:ext uri="{BB962C8B-B14F-4D97-AF65-F5344CB8AC3E}">
        <p14:creationId xmlns:p14="http://schemas.microsoft.com/office/powerpoint/2010/main" val="2986569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C4F57-A0D2-A1C5-4C9C-1FA3E679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814153A-1A7F-746B-43F0-99D5D0A64DA6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E4C38F4-DB83-C389-2E97-86665AC9C17B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877088A-4AB3-DB28-D54E-E7482C2E89E3}"/>
              </a:ext>
            </a:extLst>
          </p:cNvPr>
          <p:cNvSpPr txBox="1"/>
          <p:nvPr/>
        </p:nvSpPr>
        <p:spPr>
          <a:xfrm>
            <a:off x="990600" y="300719"/>
            <a:ext cx="9356377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Engagement and Activity</a:t>
            </a:r>
            <a:endParaRPr lang="en-US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D0DBE7C-4225-697B-9A34-AA94D988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A750A4A-BA53-9CEA-82F7-B975C226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B37115-622D-5572-C35D-A0511CEB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11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380BA-B325-F8EE-45CB-D3B8F57B38CE}"/>
              </a:ext>
            </a:extLst>
          </p:cNvPr>
          <p:cNvSpPr txBox="1"/>
          <p:nvPr/>
        </p:nvSpPr>
        <p:spPr>
          <a:xfrm>
            <a:off x="757618" y="1790700"/>
            <a:ext cx="158648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Hands-on: run Lab 3 in VS Code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Tasks</a:t>
            </a:r>
            <a:br>
              <a:rPr lang="en-MY" sz="2800" dirty="0"/>
            </a:br>
            <a:r>
              <a:rPr lang="en-MY" sz="2800" dirty="0"/>
              <a:t>	2.1 Run </a:t>
            </a:r>
            <a:r>
              <a:rPr lang="en-MY" sz="2800" dirty="0" err="1"/>
              <a:t>pytest</a:t>
            </a:r>
            <a:r>
              <a:rPr lang="en-MY" sz="2800" dirty="0"/>
              <a:t> and screenshot “8 passed”. </a:t>
            </a:r>
            <a:br>
              <a:rPr lang="en-MY" sz="2800" dirty="0"/>
            </a:br>
            <a:r>
              <a:rPr lang="en-MY" sz="2800" dirty="0"/>
              <a:t>	2.2 Run the CLI for a different route (e.g. JFK to SYD)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Discuss in pairs</a:t>
            </a:r>
            <a:br>
              <a:rPr lang="en-MY" sz="2800" dirty="0"/>
            </a:br>
            <a:r>
              <a:rPr lang="en-MY" sz="2800" dirty="0"/>
              <a:t>	3.1 Why is GBFS fastest but not the best?</a:t>
            </a:r>
            <a:br>
              <a:rPr lang="en-MY" sz="2800" dirty="0"/>
            </a:br>
            <a:r>
              <a:rPr lang="en-MY" sz="2800" dirty="0"/>
              <a:t>	3.2 Why does A* match UCS?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Make sure lab 03 script and files from </a:t>
            </a:r>
            <a:r>
              <a:rPr lang="en-MY" sz="2800" i="1" dirty="0"/>
              <a:t>results/lab03/ </a:t>
            </a:r>
            <a:r>
              <a:rPr lang="en-MY" sz="2800" dirty="0"/>
              <a:t>are pushed in the GitHub.</a:t>
            </a:r>
          </a:p>
        </p:txBody>
      </p:sp>
    </p:spTree>
    <p:extLst>
      <p:ext uri="{BB962C8B-B14F-4D97-AF65-F5344CB8AC3E}">
        <p14:creationId xmlns:p14="http://schemas.microsoft.com/office/powerpoint/2010/main" val="3244788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62A3-BE69-6886-4FFE-DDE753C3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BF6D71E-578D-AC8E-58EC-CF2A4ACFF854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DCAD575-DCA1-F180-5C9C-1310B2F0A2BC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5EE486F-5F23-1655-4FB7-5D51AB4B47A9}"/>
              </a:ext>
            </a:extLst>
          </p:cNvPr>
          <p:cNvSpPr txBox="1"/>
          <p:nvPr/>
        </p:nvSpPr>
        <p:spPr>
          <a:xfrm>
            <a:off x="990599" y="268062"/>
            <a:ext cx="9356377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defRPr/>
            </a:pPr>
            <a:r>
              <a:rPr lang="en-MY" sz="3200" b="1" spc="147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Check Your Understanding</a:t>
            </a:r>
            <a:endParaRPr lang="en-US" sz="3200" b="1" spc="147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Segoe UI" panose="020B0502040204020203" pitchFamily="34" charset="0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3C5C11B-5EE5-E91B-641A-187BDF43D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ADCF290-A7DB-8B90-CDDF-BB922BCE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C817892-ED02-F1F5-BAF8-A5D39B62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12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BE715-DE28-EAA9-F799-7042EC82CDFD}"/>
              </a:ext>
            </a:extLst>
          </p:cNvPr>
          <p:cNvSpPr txBox="1"/>
          <p:nvPr/>
        </p:nvSpPr>
        <p:spPr>
          <a:xfrm>
            <a:off x="757618" y="1790700"/>
            <a:ext cx="158648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Which one line differs between UCS and A* in </a:t>
            </a:r>
            <a:r>
              <a:rPr lang="en-MY" sz="2800" dirty="0" err="1"/>
              <a:t>best_first</a:t>
            </a:r>
            <a:r>
              <a:rPr lang="en-MY" sz="2800" dirty="0"/>
              <a:t>?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Why is </a:t>
            </a:r>
            <a:r>
              <a:rPr lang="en-MY" sz="2800" dirty="0" err="1"/>
              <a:t>path_cost_km</a:t>
            </a:r>
            <a:r>
              <a:rPr lang="en-MY" sz="2800" dirty="0"/>
              <a:t> recomputed from the returned path?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What is the counter in the heap tuple for?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Why do tests use a five-state graph, not the airline network?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Why is “7 of 10” more informative than the mean cost gap?</a:t>
            </a:r>
          </a:p>
        </p:txBody>
      </p:sp>
    </p:spTree>
    <p:extLst>
      <p:ext uri="{BB962C8B-B14F-4D97-AF65-F5344CB8AC3E}">
        <p14:creationId xmlns:p14="http://schemas.microsoft.com/office/powerpoint/2010/main" val="259920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DC0E-3770-8A18-521E-D527B277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35182FF-ABD0-3149-0B3A-6F1954410A26}"/>
              </a:ext>
            </a:extLst>
          </p:cNvPr>
          <p:cNvSpPr/>
          <p:nvPr/>
        </p:nvSpPr>
        <p:spPr>
          <a:xfrm>
            <a:off x="756447" y="1257300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4617E9B-7E70-F845-8A20-A6B2B69A542F}"/>
              </a:ext>
            </a:extLst>
          </p:cNvPr>
          <p:cNvSpPr/>
          <p:nvPr/>
        </p:nvSpPr>
        <p:spPr>
          <a:xfrm flipV="1">
            <a:off x="756447" y="9617446"/>
            <a:ext cx="16775106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59DDE76-84BF-5C91-9799-1AA205AA42D6}"/>
              </a:ext>
            </a:extLst>
          </p:cNvPr>
          <p:cNvSpPr txBox="1"/>
          <p:nvPr/>
        </p:nvSpPr>
        <p:spPr>
          <a:xfrm>
            <a:off x="990600" y="300719"/>
            <a:ext cx="9356377" cy="62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547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14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Segoe UI" panose="020B0502040204020203" pitchFamily="34" charset="0"/>
                <a:ea typeface="Droid Serif Bold"/>
                <a:cs typeface="Segoe UI" panose="020B0502040204020203" pitchFamily="34" charset="0"/>
                <a:sym typeface="Droid Serif Bold"/>
              </a:rPr>
              <a:t>SUMMARY</a:t>
            </a:r>
            <a:endParaRPr kumimoji="0" lang="en-US" sz="3200" b="1" i="0" u="none" strike="noStrike" kern="1200" cap="none" spc="147" normalizeH="0" baseline="0" noProof="0">
              <a:ln>
                <a:noFill/>
              </a:ln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effectLst/>
              <a:uLnTx/>
              <a:uFillTx/>
              <a:latin typeface="Segoe UI" panose="020B0502040204020203" pitchFamily="34" charset="0"/>
              <a:ea typeface="Droid Serif Bold"/>
              <a:cs typeface="Segoe UI" panose="020B0502040204020203" pitchFamily="34" charset="0"/>
              <a:sym typeface="Droid Serif Bold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4529C51-99C5-0DF5-07F1-6D72C457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3495" y="9617446"/>
            <a:ext cx="4114800" cy="547688"/>
          </a:xfrm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Week 06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CB24014-0E23-EDA3-EC5D-89F9B02D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8788" y="9617446"/>
            <a:ext cx="8275812" cy="547688"/>
          </a:xfrm>
        </p:spPr>
        <p:txBody>
          <a:bodyPr/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For educational use only. Not to be distributed or shared without permission.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C6FCF47-7D18-7353-B9FD-14045F43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329840" y="9617446"/>
            <a:ext cx="2781302" cy="547688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CD972-660C-B3E7-FE39-0E0F2424F78B}"/>
              </a:ext>
            </a:extLst>
          </p:cNvPr>
          <p:cNvSpPr txBox="1"/>
          <p:nvPr/>
        </p:nvSpPr>
        <p:spPr>
          <a:xfrm>
            <a:off x="757618" y="1790700"/>
            <a:ext cx="1593018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Packaged code is reusable and testable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Tests prove correctness without any dataset</a:t>
            </a:r>
            <a:br>
              <a:rPr lang="en-MY" sz="2800" dirty="0"/>
            </a:br>
            <a:r>
              <a:rPr lang="en-MY" sz="2800" dirty="0"/>
              <a:t>	2.1 8 tests, under one second</a:t>
            </a:r>
            <a:br>
              <a:rPr lang="en-MY" sz="2800" dirty="0"/>
            </a:br>
            <a:r>
              <a:rPr lang="en-MY" sz="2800" dirty="0"/>
              <a:t>	2.2 CLI and python file share one implementation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Benchmark shows the trade-off</a:t>
            </a:r>
            <a:br>
              <a:rPr lang="en-MY" sz="2800" dirty="0"/>
            </a:br>
            <a:r>
              <a:rPr lang="en-MY" sz="2800" dirty="0"/>
              <a:t>	3.1 UCS: optimal but slow; GBFS: fast but risky</a:t>
            </a:r>
            <a:br>
              <a:rPr lang="en-MY" sz="2800" dirty="0"/>
            </a:br>
            <a:r>
              <a:rPr lang="en-MY" sz="2800" dirty="0"/>
              <a:t>	3.2 A*: optimal and fast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MY" sz="2800" dirty="0"/>
              <a:t>Next: Lab 4, Fuzzy Logic and ANFIS</a:t>
            </a:r>
          </a:p>
        </p:txBody>
      </p:sp>
    </p:spTree>
    <p:extLst>
      <p:ext uri="{BB962C8B-B14F-4D97-AF65-F5344CB8AC3E}">
        <p14:creationId xmlns:p14="http://schemas.microsoft.com/office/powerpoint/2010/main" val="3846983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447" y="1563443"/>
            <a:ext cx="16775106" cy="0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1028700" y="9534526"/>
            <a:ext cx="16502853" cy="21854"/>
          </a:xfrm>
          <a:prstGeom prst="line">
            <a:avLst/>
          </a:prstGeom>
          <a:ln w="76200" cap="flat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4648200" y="4777861"/>
            <a:ext cx="8037635" cy="3503005"/>
            <a:chOff x="0" y="0"/>
            <a:chExt cx="2337006" cy="1018527"/>
          </a:xfrm>
          <a:noFill/>
        </p:grpSpPr>
        <p:sp>
          <p:nvSpPr>
            <p:cNvPr id="5" name="Freeform 5"/>
            <p:cNvSpPr/>
            <p:nvPr/>
          </p:nvSpPr>
          <p:spPr>
            <a:xfrm>
              <a:off x="0" y="0"/>
              <a:ext cx="2337006" cy="1018527"/>
            </a:xfrm>
            <a:custGeom>
              <a:avLst/>
              <a:gdLst/>
              <a:ahLst/>
              <a:cxnLst/>
              <a:rect l="l" t="t" r="r" b="b"/>
              <a:pathLst>
                <a:path w="2337006" h="1018527">
                  <a:moveTo>
                    <a:pt x="0" y="0"/>
                  </a:moveTo>
                  <a:lnTo>
                    <a:pt x="2337006" y="0"/>
                  </a:lnTo>
                  <a:lnTo>
                    <a:pt x="2337006" y="1018527"/>
                  </a:lnTo>
                  <a:lnTo>
                    <a:pt x="0" y="1018527"/>
                  </a:lnTo>
                  <a:close/>
                </a:path>
              </a:pathLst>
            </a:custGeom>
            <a:grpFill/>
            <a:ln w="38100" cap="sq">
              <a:solidFill>
                <a:schemeClr val="tx1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37006" cy="105662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ts val="273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42298" y="3005254"/>
            <a:ext cx="10822028" cy="1371979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185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99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chemeClr val="accent5">
                        <a:lumMod val="75000"/>
                      </a:scheme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  <a:sym typeface="Droid Serif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14211" y="5660960"/>
            <a:ext cx="5678202" cy="396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34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0" i="0" u="none" strike="noStrike" kern="1200" cap="none" spc="90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rPr>
              <a:t>DEPARTMENT OF COMPUTING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4241" y="5186980"/>
            <a:ext cx="6758143" cy="338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MY" sz="2199" spc="90" dirty="0" err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Aptos"/>
              </a:rPr>
              <a:t>Farahida</a:t>
            </a:r>
            <a:r>
              <a:rPr lang="en-MY" sz="2199" spc="90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Aptos"/>
              </a:rPr>
              <a:t> Hanim </a:t>
            </a:r>
            <a:r>
              <a:rPr lang="en-MY" sz="2199" spc="90" dirty="0" err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Aptos"/>
              </a:rPr>
              <a:t>Bt</a:t>
            </a:r>
            <a:r>
              <a:rPr lang="en-MY" sz="2199" spc="90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Aptos"/>
              </a:rPr>
              <a:t> </a:t>
            </a:r>
            <a:r>
              <a:rPr lang="en-MY" sz="2199" spc="90" dirty="0" err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latin typeface="Aptos"/>
              </a:rPr>
              <a:t>Mausor</a:t>
            </a:r>
            <a:endParaRPr lang="en-US" sz="2199" spc="90" dirty="0">
              <a:gradFill>
                <a:gsLst>
                  <a:gs pos="0">
                    <a:srgbClr val="000000">
                      <a:alpha val="100000"/>
                    </a:srgbClr>
                  </a:gs>
                  <a:gs pos="50000">
                    <a:srgbClr val="002F31">
                      <a:alpha val="100000"/>
                    </a:srgbClr>
                  </a:gs>
                  <a:gs pos="100000">
                    <a:srgbClr val="00959A">
                      <a:alpha val="100000"/>
                    </a:srgbClr>
                  </a:gs>
                </a:gsLst>
                <a:lin ang="2700000"/>
              </a:gradFill>
              <a:latin typeface="Aptos"/>
              <a:sym typeface="Apto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5509434" y="6611027"/>
            <a:ext cx="4853765" cy="787889"/>
            <a:chOff x="0" y="0"/>
            <a:chExt cx="6471685" cy="10505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7647" cy="566816"/>
            </a:xfrm>
            <a:custGeom>
              <a:avLst/>
              <a:gdLst/>
              <a:ahLst/>
              <a:cxnLst/>
              <a:rect l="l" t="t" r="r" b="b"/>
              <a:pathLst>
                <a:path w="577647" h="566816">
                  <a:moveTo>
                    <a:pt x="0" y="0"/>
                  </a:moveTo>
                  <a:lnTo>
                    <a:pt x="577647" y="0"/>
                  </a:lnTo>
                  <a:lnTo>
                    <a:pt x="577647" y="566816"/>
                  </a:lnTo>
                  <a:lnTo>
                    <a:pt x="0" y="566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9573" y="58111"/>
              <a:ext cx="5462112" cy="9924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040"/>
                </a:lnSpc>
                <a:defRPr/>
              </a:pPr>
              <a:r>
                <a:rPr lang="en-US" sz="2000" spc="82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50000">
                        <a:srgbClr val="002F31">
                          <a:alpha val="100000"/>
                        </a:srgbClr>
                      </a:gs>
                      <a:gs pos="100000">
                        <a:srgbClr val="00959A">
                          <a:alpha val="100000"/>
                        </a:srgbClr>
                      </a:gs>
                    </a:gsLst>
                    <a:lin ang="2700000"/>
                  </a:gradFill>
                  <a:latin typeface="Aptos"/>
                  <a:ea typeface="Aptos"/>
                  <a:cs typeface="Aptos"/>
                  <a:sym typeface="Aptos"/>
                </a:rPr>
                <a:t>FIZA_24004757@UTP.EDU.MY</a:t>
              </a:r>
            </a:p>
            <a:p>
              <a:pPr marL="0" marR="0" lvl="0" indent="0" algn="l" defTabSz="457200" rtl="0" eaLnBrk="1" fontAlgn="auto" latinLnBrk="0" hangingPunct="1">
                <a:lnSpc>
                  <a:spcPts val="30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82" normalizeH="0" baseline="0" noProof="0" dirty="0">
                <a:ln>
                  <a:noFill/>
                </a:ln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002F31">
                        <a:alpha val="100000"/>
                      </a:srgbClr>
                    </a:gs>
                    <a:gs pos="100000">
                      <a:srgbClr val="00959A">
                        <a:alpha val="100000"/>
                      </a:srgbClr>
                    </a:gs>
                  </a:gsLst>
                  <a:lin ang="2700000"/>
                </a:gradFill>
                <a:effectLst/>
                <a:uLnTx/>
                <a:uFillTx/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09434" y="7391229"/>
            <a:ext cx="4744909" cy="512496"/>
            <a:chOff x="0" y="0"/>
            <a:chExt cx="6326543" cy="6833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0390" cy="683328"/>
            </a:xfrm>
            <a:custGeom>
              <a:avLst/>
              <a:gdLst/>
              <a:ahLst/>
              <a:cxnLst/>
              <a:rect l="l" t="t" r="r" b="b"/>
              <a:pathLst>
                <a:path w="550390" h="683328">
                  <a:moveTo>
                    <a:pt x="0" y="0"/>
                  </a:moveTo>
                  <a:lnTo>
                    <a:pt x="550390" y="0"/>
                  </a:lnTo>
                  <a:lnTo>
                    <a:pt x="550390" y="683328"/>
                  </a:lnTo>
                  <a:lnTo>
                    <a:pt x="0" y="683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9574" y="75176"/>
              <a:ext cx="5316969" cy="4794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3040"/>
                </a:lnSpc>
                <a:defRPr/>
              </a:pPr>
              <a:r>
                <a:rPr lang="en-US" sz="2000" spc="82" dirty="0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50000">
                        <a:srgbClr val="002F31">
                          <a:alpha val="100000"/>
                        </a:srgbClr>
                      </a:gs>
                      <a:gs pos="100000">
                        <a:srgbClr val="00959A">
                          <a:alpha val="100000"/>
                        </a:srgbClr>
                      </a:gs>
                    </a:gsLst>
                    <a:lin ang="2700000"/>
                  </a:gradFill>
                  <a:latin typeface="Aptos"/>
                  <a:ea typeface="Aptos"/>
                  <a:cs typeface="Aptos"/>
                  <a:sym typeface="Aptos"/>
                </a:rPr>
                <a:t>Lab 01-01-10: Data Analytic Lab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3452568" y="161232"/>
            <a:ext cx="3806732" cy="1350171"/>
          </a:xfrm>
          <a:custGeom>
            <a:avLst/>
            <a:gdLst/>
            <a:ahLst/>
            <a:cxnLst/>
            <a:rect l="l" t="t" r="r" b="b"/>
            <a:pathLst>
              <a:path w="3806732" h="1350171">
                <a:moveTo>
                  <a:pt x="0" y="0"/>
                </a:moveTo>
                <a:lnTo>
                  <a:pt x="3806732" y="0"/>
                </a:lnTo>
                <a:lnTo>
                  <a:pt x="3806732" y="1350171"/>
                </a:lnTo>
                <a:lnTo>
                  <a:pt x="0" y="1350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69CC0C1-CEE6-7AFD-F08C-9037DCAE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Week 06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559E3EB5-D08C-1B33-945D-C91DA725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7658100" cy="547688"/>
          </a:xfrm>
        </p:spPr>
        <p:txBody>
          <a:bodyPr/>
          <a:lstStyle/>
          <a:p>
            <a:r>
              <a:rPr lang="en-US"/>
              <a:t>For educational use only. Not to be distributed or shared without permission.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A546E35-A579-1253-4F8D-BE6DFA9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C87EB35ACF9448AB6AF0166C74B31C" ma:contentTypeVersion="20" ma:contentTypeDescription="Create a new document." ma:contentTypeScope="" ma:versionID="afd188c47451dba45a86e012c1481767">
  <xsd:schema xmlns:xsd="http://www.w3.org/2001/XMLSchema" xmlns:xs="http://www.w3.org/2001/XMLSchema" xmlns:p="http://schemas.microsoft.com/office/2006/metadata/properties" xmlns:ns1="http://schemas.microsoft.com/sharepoint/v3" xmlns:ns3="f604542f-3f98-4180-a530-dccd8eb96459" xmlns:ns4="161b1d0b-c5d9-4346-b7aa-7c23791df872" targetNamespace="http://schemas.microsoft.com/office/2006/metadata/properties" ma:root="true" ma:fieldsID="f8830e1d0cf709f132b06e9cca8a370a" ns1:_="" ns3:_="" ns4:_="">
    <xsd:import namespace="http://schemas.microsoft.com/sharepoint/v3"/>
    <xsd:import namespace="f604542f-3f98-4180-a530-dccd8eb96459"/>
    <xsd:import namespace="161b1d0b-c5d9-4346-b7aa-7c23791df8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04542f-3f98-4180-a530-dccd8eb964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1b1d0b-c5d9-4346-b7aa-7c23791df87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f604542f-3f98-4180-a530-dccd8eb96459" xsi:nil="true"/>
  </documentManagement>
</p:properties>
</file>

<file path=customXml/itemProps1.xml><?xml version="1.0" encoding="utf-8"?>
<ds:datastoreItem xmlns:ds="http://schemas.openxmlformats.org/officeDocument/2006/customXml" ds:itemID="{07F07991-DBC0-402D-BD53-7E5C26CAE5A5}">
  <ds:schemaRefs>
    <ds:schemaRef ds:uri="161b1d0b-c5d9-4346-b7aa-7c23791df872"/>
    <ds:schemaRef ds:uri="f604542f-3f98-4180-a530-dccd8eb964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59B6550-91B7-456B-A940-ECDA25AB84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8EABEC-D4DA-4635-9F5B-DEE1FFF379A2}">
  <ds:schemaRefs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  <ds:schemaRef ds:uri="f604542f-3f98-4180-a530-dccd8eb96459"/>
    <ds:schemaRef ds:uri="http://schemas.microsoft.com/office/2006/documentManagement/types"/>
    <ds:schemaRef ds:uri="http://schemas.microsoft.com/office/infopath/2007/PartnerControls"/>
    <ds:schemaRef ds:uri="161b1d0b-c5d9-4346-b7aa-7c23791df872"/>
    <ds:schemaRef ds:uri="http://schemas.microsoft.com/sharepoint/v3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518</TotalTime>
  <Words>1215</Words>
  <Application>Microsoft Office PowerPoint</Application>
  <PresentationFormat>Custom</PresentationFormat>
  <Paragraphs>126</Paragraphs>
  <Slides>14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Calibri Light</vt:lpstr>
      <vt:lpstr>Museo Sans 300</vt:lpstr>
      <vt:lpstr>Aptos</vt:lpstr>
      <vt:lpstr>Arial</vt:lpstr>
      <vt:lpstr>Segoe UI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 Slide Ver02</dc:title>
  <dc:creator>Nurul Fazilah Bt Esa (FSMC/UTP)</dc:creator>
  <cp:lastModifiedBy>Beg Fiza</cp:lastModifiedBy>
  <cp:revision>5</cp:revision>
  <dcterms:created xsi:type="dcterms:W3CDTF">2006-08-16T00:00:00Z</dcterms:created>
  <dcterms:modified xsi:type="dcterms:W3CDTF">2026-10-13T23:47:56Z</dcterms:modified>
  <dc:identifier>DAG_MRG_x0E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0x0101000DC87EB35ACF9448AB6AF0166C74B31C</vt:lpwstr>
  </property>
</Properties>
</file>