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26"/>
  </p:notesMasterIdLst>
  <p:handoutMasterIdLst>
    <p:handoutMasterId r:id="rId27"/>
  </p:handoutMasterIdLst>
  <p:sldIdLst>
    <p:sldId id="321" r:id="rId5"/>
    <p:sldId id="269" r:id="rId6"/>
    <p:sldId id="276" r:id="rId7"/>
    <p:sldId id="277" r:id="rId8"/>
    <p:sldId id="322" r:id="rId9"/>
    <p:sldId id="279" r:id="rId10"/>
    <p:sldId id="323" r:id="rId11"/>
    <p:sldId id="325" r:id="rId12"/>
    <p:sldId id="324" r:id="rId13"/>
    <p:sldId id="326" r:id="rId14"/>
    <p:sldId id="327" r:id="rId15"/>
    <p:sldId id="328" r:id="rId16"/>
    <p:sldId id="329" r:id="rId17"/>
    <p:sldId id="330" r:id="rId18"/>
    <p:sldId id="331" r:id="rId19"/>
    <p:sldId id="332" r:id="rId20"/>
    <p:sldId id="333" r:id="rId21"/>
    <p:sldId id="334" r:id="rId22"/>
    <p:sldId id="335" r:id="rId23"/>
    <p:sldId id="336" r:id="rId24"/>
    <p:sldId id="270" r:id="rId25"/>
  </p:sldIdLst>
  <p:sldSz cx="18288000" cy="10287000"/>
  <p:notesSz cx="6858000" cy="9144000"/>
  <p:embeddedFontLst>
    <p:embeddedFont>
      <p:font typeface="Cambria Math" panose="02040503050406030204" pitchFamily="18" charset="0"/>
      <p:regular r:id="rId28"/>
    </p:embeddedFont>
    <p:embeddedFont>
      <p:font typeface="Cascadia Code" panose="020B0609020000020004" pitchFamily="49" charset="0"/>
      <p:regular r:id="rId29"/>
      <p:bold r:id="rId30"/>
      <p:italic r:id="rId31"/>
      <p:boldItalic r:id="rId32"/>
    </p:embeddedFont>
    <p:embeddedFont>
      <p:font typeface="Museo Sans 300" panose="02000000000000000000" charset="0"/>
      <p:regular r:id="rId33"/>
      <p:italic r:id="rId34"/>
    </p:embeddedFont>
    <p:embeddedFont>
      <p:font typeface="Segoe UI" panose="020B050204020402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2254BC-C669-4C58-8896-EBBB7531B6D9}" v="1" dt="2026-05-05T09:16:46.154"/>
    <p1510:client id="{A6A84AB0-1939-49CC-8FF8-086EF10AAC9A}" v="51" dt="2026-03-30T07:00:11.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33" autoAdjust="0"/>
  </p:normalViewPr>
  <p:slideViewPr>
    <p:cSldViewPr snapToGrid="0">
      <p:cViewPr>
        <p:scale>
          <a:sx n="60" d="100"/>
          <a:sy n="60" d="100"/>
        </p:scale>
        <p:origin x="748"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font" Target="fonts/font1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5/10/2026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5/10/2026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240EA-26D0-AA7F-E3E6-141F7DB26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5A8F9-3957-820A-3DCF-5B8C2CC0F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F0E33-7A79-5A57-A0E8-01BD3EF0B872}"/>
              </a:ext>
            </a:extLst>
          </p:cNvPr>
          <p:cNvSpPr>
            <a:spLocks noGrp="1"/>
          </p:cNvSpPr>
          <p:nvPr>
            <p:ph type="body" idx="1"/>
          </p:nvPr>
        </p:nvSpPr>
        <p:spPr/>
        <p:txBody>
          <a:bodyPr/>
          <a:lstStyle/>
          <a:p>
            <a:r>
              <a:rPr lang="en-MY" dirty="0"/>
              <a:t>Key idea </a:t>
            </a:r>
          </a:p>
          <a:p>
            <a:r>
              <a:rPr lang="en-MY" dirty="0"/>
              <a:t>GBFS asks which frontier state looks closest to the goal. A⋆ also accounts for the cost already paid and, with </a:t>
            </a:r>
            <a:r>
              <a:rPr lang="en-MY" dirty="0" err="1"/>
              <a:t>asuitable</a:t>
            </a:r>
            <a:r>
              <a:rPr lang="en-MY" dirty="0"/>
              <a:t> heuristic, guarantees the cheapest path</a:t>
            </a:r>
          </a:p>
        </p:txBody>
      </p:sp>
      <p:sp>
        <p:nvSpPr>
          <p:cNvPr id="4" name="Footer Placeholder 3">
            <a:extLst>
              <a:ext uri="{FF2B5EF4-FFF2-40B4-BE49-F238E27FC236}">
                <a16:creationId xmlns:a16="http://schemas.microsoft.com/office/drawing/2014/main" id="{C831513C-6AF4-1756-B665-71890B2085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28E5023-49D5-8731-EF9C-74C0F09F3ADE}"/>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1836561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61575-DA01-B900-44FE-A954F138E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4F2DA-8DC3-3957-0AAA-1827CB86B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EC4EE-1434-BD10-6AA8-EA0A77027375}"/>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180BCFB-48E9-E778-3159-862218F918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A40E94-7D3E-E066-B80B-2FBCA7962AAD}"/>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4231707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55DAE-9DAA-9CFC-AC83-49677259B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B3E53-378C-ADC2-C027-572EA6CD7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47C9B-A747-7786-E3C9-66721F9F55CF}"/>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0DD8945-6A10-48C1-DE62-76A564F538E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0D39CAA-C663-DB14-2410-B2412F18C4AA}"/>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3155042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A828-A4B5-391F-F9F3-30600440C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1D54-9943-C8C4-5EFE-D9F6CC1D8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4A8A6-B09D-40E5-61B8-4FD699C840D6}"/>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3933CE60-2302-D4FF-9200-6345B7277C1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DB008F5-3190-11E9-34F9-0679DC84D06F}"/>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246011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B6B65-9260-66C9-AE56-2ED964563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937FA-7639-8C34-64CD-66E0EA30C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CE0B3-862F-5262-67E5-77001413D9D8}"/>
              </a:ext>
            </a:extLst>
          </p:cNvPr>
          <p:cNvSpPr>
            <a:spLocks noGrp="1"/>
          </p:cNvSpPr>
          <p:nvPr>
            <p:ph type="body" idx="1"/>
          </p:nvPr>
        </p:nvSpPr>
        <p:spPr/>
        <p:txBody>
          <a:bodyPr/>
          <a:lstStyle/>
          <a:p>
            <a:r>
              <a:rPr lang="en-MY" dirty="0"/>
              <a:t>An inadmissible heuristic makes A⋆ behave like GBFS: it trusts the estimate too much and commits to a branch before the cost evidence justifies it. Admissibility keeps the g term in charge whenever the two disagree.</a:t>
            </a:r>
          </a:p>
        </p:txBody>
      </p:sp>
      <p:sp>
        <p:nvSpPr>
          <p:cNvPr id="4" name="Footer Placeholder 3">
            <a:extLst>
              <a:ext uri="{FF2B5EF4-FFF2-40B4-BE49-F238E27FC236}">
                <a16:creationId xmlns:a16="http://schemas.microsoft.com/office/drawing/2014/main" id="{F86CB74B-23C4-6C88-F754-F97DA7411EB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847E0D4-35BA-4017-1A66-2262AC362101}"/>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3332811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92942-8DA7-139D-9D37-955FF5B37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85892-E1E9-4904-67A7-F4A8BBFD3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50BAD-DB3A-7006-D401-57C4CF80208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964725B-442E-195E-5E64-90031D43C0F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8AE71F2-A12F-CCF5-8464-7FA04E1F7520}"/>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549453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859B4-09C8-5584-6C72-65BCF76E9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CFD76-5843-E77A-51BB-0130B7016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A49C1-DD00-0A72-DBCC-D75D89CAFC91}"/>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1AD09C7-5878-0F37-22F1-E2FE2A33A27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AF6F5ED-19D5-20D7-7DCA-12CE285BE485}"/>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2217839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CB456-648B-D416-5960-00A5FFDDB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24E80-6FF1-D4F7-FBC5-87394BBFC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EBFF1-AA82-C82B-E3BE-9236F19BAE7B}"/>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58FE35F5-A91E-A87A-CB02-9CBBBD9B2C5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2A5380B-5F7A-B5B8-DF76-9465583CDD4E}"/>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1559647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82DF0-7F7B-BC90-61E4-DF94D30A8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E9D32-9E24-A913-ACF1-7640D392A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74F9D-B05C-E013-1D72-F0F2AC10CE8F}"/>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7EB917F7-F7F2-B4A5-CA0B-9235D43221A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9142403-FF86-3D15-F30B-ACD791979750}"/>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892131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DB13C-DF57-3473-517E-EFCD368E6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3614A-AB48-18D1-D287-26A53C20A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87E55-9F71-943A-7315-C333C222925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2A9B111A-52A3-E0AA-3A49-AA37A27BB94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5907884-173C-B506-21F3-FE949C881CC7}"/>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1046384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79733-51FF-8BA6-CC60-2022DCBF5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6564D-3208-1C2A-462E-AA4E20E27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1883B-A0F0-D50F-8228-88C64D8D3FE7}"/>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55789EB-269A-AF1D-60C1-46A726CB9EF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A9A3641-37EE-8B40-0EA1-F64445066D9F}"/>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1687883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1F4E0-CB31-99F5-309D-CFD628FA1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A4F6B-AF62-5224-85FA-063252E97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DAB1E-2C55-DF9A-8F0F-91B6EE7D0A5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EF31FBA-1501-92D8-C048-54EAF89BE51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85B2829-27FA-B894-900D-C709B9B5123C}"/>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3370473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395C5-9A68-B9CA-F4F9-B86717DFB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04D96-DE4D-2741-398B-9C77C26EB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A5DDF-78E0-5DD1-E299-3798920EDDC7}"/>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FDDE8B9E-65D4-87B9-EEFC-0FF5BC286CA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52059C2-B440-D6C6-BC2B-DDE2F04A3B48}"/>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2271191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48DB-0D79-E41D-3062-80E369DF9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04577-8FC0-D260-6DB0-DB895C14A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32F8F-684E-1FE2-631C-06025D6C8DE1}"/>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2B9742D-6119-91F2-BBED-645F8DC48D3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14FDBC0-8A3F-08E3-D4DD-BDC783E36834}"/>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4102537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C3DB-D97A-545D-6470-7411E0B1C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01CE4-16D2-C780-BFD0-ECA35672A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BDBE7-D837-C0D1-716D-FACA0FB547C2}"/>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1F34A0F5-C6AA-F038-CD70-1587124D75B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421B629-2426-5A28-8F94-8A96C74426E2}"/>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3050924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83913-29B3-5E8A-A23A-D954BD1DC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38543-2C14-C50A-E3C4-25B983014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FA7A1-9C60-2743-1C04-A171EAE0C66D}"/>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020FB29C-3A9B-137F-7536-7A3BE3E900E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443BDC-F382-9F49-F7CB-F0ED6DAB4A70}"/>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123601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Freeform 7"/>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2"/>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83600" y="4718912"/>
            <a:ext cx="11424666" cy="2213426"/>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05 </a:t>
            </a:r>
          </a:p>
          <a:p>
            <a:pPr lvl="0" algn="ctr">
              <a:spcBef>
                <a:spcPct val="0"/>
              </a:spcBef>
              <a:defRPr/>
            </a:pPr>
            <a:r>
              <a:rPr lang="en-MY"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rPr>
              <a:t>Informed Search: Greedy Best-First Search and A*</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718145"/>
          </a:xfrm>
          <a:prstGeom prst="rect">
            <a:avLst/>
          </a:prstGeom>
        </p:spPr>
        <p:txBody>
          <a:bodyPr lIns="0" tIns="0" rIns="0" bIns="0" rtlCol="0" anchor="t">
            <a:spAutoFit/>
          </a:bodyPr>
          <a:lstStyle/>
          <a:p>
            <a:pPr algn="ctr" defTabSz="304815">
              <a:lnSpc>
                <a:spcPts val="2837"/>
              </a:lnSpc>
              <a:defRPr/>
            </a:pPr>
            <a:r>
              <a:rPr lang="en-US" sz="2800" spc="69"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TGB2013/TFB2073/TEB2023_092 : Artificial Intelligence</a:t>
            </a:r>
          </a:p>
        </p:txBody>
      </p:sp>
      <p:sp>
        <p:nvSpPr>
          <p:cNvPr id="15" name="TextBox 15"/>
          <p:cNvSpPr txBox="1"/>
          <p:nvPr/>
        </p:nvSpPr>
        <p:spPr>
          <a:xfrm>
            <a:off x="8085066" y="7789617"/>
            <a:ext cx="8221734" cy="804451"/>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02E8717A-DAE6-83DA-B948-7047270D8AF1}"/>
              </a:ext>
            </a:extLst>
          </p:cNvPr>
          <p:cNvPicPr>
            <a:picLocks noChangeAspect="1"/>
          </p:cNvPicPr>
          <p:nvPr/>
        </p:nvPicPr>
        <p:blipFill>
          <a:blip r:embed="rId3"/>
          <a:stretch>
            <a:fillRect/>
          </a:stretch>
        </p:blipFill>
        <p:spPr>
          <a:xfrm>
            <a:off x="1" y="-2"/>
            <a:ext cx="6106886"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kumimoji="0" lang="en-US" sz="3200" b="1" i="0" u="none" strike="noStrike" kern="1200" cap="none" spc="147"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FD08FFB3-5EEF-CF58-49C9-126B1953221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571DEA40-F5C4-FBD1-C53C-3381F106019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5AD9A3B-1207-5170-3D6B-BAA0A5D981E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A442DCC3-3277-B543-0ED9-326B081CC652}"/>
              </a:ext>
            </a:extLst>
          </p:cNvPr>
          <p:cNvSpPr txBox="1"/>
          <p:nvPr/>
        </p:nvSpPr>
        <p:spPr>
          <a:xfrm>
            <a:off x="756447" y="1360110"/>
            <a:ext cx="16353523" cy="7848302"/>
          </a:xfrm>
          <a:prstGeom prst="rect">
            <a:avLst/>
          </a:prstGeom>
          <a:noFill/>
        </p:spPr>
        <p:txBody>
          <a:bodyPr wrap="square" rtlCol="0">
            <a:spAutoFit/>
          </a:bodyPr>
          <a:lstStyle/>
          <a:p>
            <a:pPr marL="514350" indent="-514350">
              <a:buAutoNum type="arabicPeriod"/>
            </a:pPr>
            <a:r>
              <a:rPr lang="en-MY" sz="2800" dirty="0"/>
              <a:t>Of 10,668 airport rows, 6,464 have a usable code and coordinates; of 67,663 route rows, 37,337 unique directed routes connect two usable airports. Every algorithm runs on this same graph, so the results are comparable. The cleaning rules are in utils/openflights.py; the note book only calls </a:t>
            </a:r>
            <a:r>
              <a:rPr lang="en-MY" sz="2800" i="1" dirty="0" err="1"/>
              <a:t>load_openflights</a:t>
            </a:r>
            <a:r>
              <a:rPr lang="en-MY" sz="2800" dirty="0"/>
              <a:t>.</a:t>
            </a:r>
          </a:p>
          <a:p>
            <a:pPr marL="514350" indent="-514350">
              <a:buAutoNum type="arabicPeriod"/>
            </a:pPr>
            <a:r>
              <a:rPr lang="en-MY" sz="2800" dirty="0"/>
              <a:t>Each edge carries the distance between its endpoints, computed once when the graph is built. Counting steps (BFS/DFS) and summing kilometres(UCS) are two different questions asked of the same graph. </a:t>
            </a:r>
          </a:p>
          <a:p>
            <a:pPr marL="514350" indent="-514350">
              <a:buAutoNum type="arabicPeriod"/>
            </a:pPr>
            <a:r>
              <a:rPr lang="en-MY" sz="2800" dirty="0"/>
              <a:t>BFS always returns the fewest hops(two legs on every query), UCS always returns the shortest distance, and DFS returns along, winding route because it follows the first neighbour deeply. Expanded-node counts are the stable measure of effort; runtimes vary from machine to machine. Every </a:t>
            </a:r>
            <a:r>
              <a:rPr lang="en-MY" sz="2800" i="1" dirty="0" err="1"/>
              <a:t>SearchResult</a:t>
            </a:r>
            <a:r>
              <a:rPr lang="en-MY" sz="2800" dirty="0"/>
              <a:t> has the same fields, which is why one loop and </a:t>
            </a:r>
            <a:r>
              <a:rPr lang="en-MY" sz="2800" i="1" dirty="0" err="1"/>
              <a:t>as_dict</a:t>
            </a:r>
            <a:r>
              <a:rPr lang="en-MY" sz="2800" i="1" dirty="0"/>
              <a:t>() </a:t>
            </a:r>
            <a:r>
              <a:rPr lang="en-MY" sz="2800" dirty="0"/>
              <a:t>build the whole table.</a:t>
            </a:r>
          </a:p>
          <a:p>
            <a:pPr marL="514350" indent="-514350">
              <a:buAutoNum type="arabicPeriod"/>
            </a:pPr>
            <a:r>
              <a:rPr lang="en-MY" sz="2800" dirty="0"/>
              <a:t>All nine paths use real routes and their costs equal the sum of their edge distances, so the metrics table can be trusted. An assert that fails stops the notebook with the name of the offending algorithm and query, deliberately loud.</a:t>
            </a:r>
          </a:p>
          <a:p>
            <a:pPr marL="514350" indent="-514350">
              <a:buAutoNum type="arabicPeriod"/>
            </a:pPr>
            <a:r>
              <a:rPr lang="en-MY" sz="2800" dirty="0"/>
              <a:t>BFS minimises the number of legs, so a two-leg route through a distant hub (KUL→AMS→KEF, 12,274 km) wins even though UCS finds a four-leg route (KUL→HKT→LED→HEL→KEF,11,461km) that is over 800 km shorter. Fewest legs and fewest kilometres are different objectives. DFS changes its answer as soon as the neighbour order changes, because it commits to the first branch it sees; it guarantees neither objective.</a:t>
            </a:r>
          </a:p>
          <a:p>
            <a:pPr marL="514350" indent="-514350">
              <a:buAutoNum type="arabicPeriod"/>
            </a:pPr>
            <a:r>
              <a:rPr lang="en-MY" sz="2800" dirty="0"/>
              <a:t>The figure is a longitude/latitude sketch, not a map projection, but it makes the difference visible: BFS jumps through one hub, UCS follows the geographically short chain, and DFS wanders.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endParaRPr kumimoji="0" lang="en-US" sz="3200" b="1" i="0" u="none" strike="noStrike" kern="1200" cap="none" spc="147"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EC69068-D195-93B5-876F-D0186B382DE5}"/>
              </a:ext>
            </a:extLst>
          </p:cNvPr>
          <p:cNvSpPr txBox="1"/>
          <p:nvPr/>
        </p:nvSpPr>
        <p:spPr>
          <a:xfrm>
            <a:off x="1913843" y="4812785"/>
            <a:ext cx="14801851" cy="1569660"/>
          </a:xfrm>
          <a:prstGeom prst="rect">
            <a:avLst/>
          </a:prstGeom>
          <a:noFill/>
        </p:spPr>
        <p:txBody>
          <a:bodyPr wrap="square">
            <a:spAutoFit/>
          </a:bodyPr>
          <a:lstStyle/>
          <a:p>
            <a:r>
              <a:rPr lang="en-MY" sz="3200" i="1" dirty="0"/>
              <a:t>UCS found the shortest Kuala Lumpur-Keflavík route but expanded 1,851 airports without geographical guidance. Lab 2 adds a heuristic, an estimate of remaining distance, and measures its effect on search effort and route quality</a:t>
            </a:r>
            <a:endParaRPr lang="en-MY" sz="2800" i="1" dirty="0"/>
          </a:p>
        </p:txBody>
      </p:sp>
      <p:sp>
        <p:nvSpPr>
          <p:cNvPr id="12" name="TextBox 11">
            <a:extLst>
              <a:ext uri="{FF2B5EF4-FFF2-40B4-BE49-F238E27FC236}">
                <a16:creationId xmlns:a16="http://schemas.microsoft.com/office/drawing/2014/main" id="{71EF14E1-17D7-8CFD-E401-6828C1AE212C}"/>
              </a:ext>
            </a:extLst>
          </p:cNvPr>
          <p:cNvSpPr txBox="1"/>
          <p:nvPr/>
        </p:nvSpPr>
        <p:spPr>
          <a:xfrm>
            <a:off x="1202976" y="1923198"/>
            <a:ext cx="15908165" cy="2062103"/>
          </a:xfrm>
          <a:prstGeom prst="rect">
            <a:avLst/>
          </a:prstGeom>
          <a:noFill/>
        </p:spPr>
        <p:txBody>
          <a:bodyPr wrap="square">
            <a:spAutoFit/>
          </a:bodyPr>
          <a:lstStyle/>
          <a:p>
            <a:r>
              <a:rPr lang="en-MY" sz="3200" b="1" dirty="0"/>
              <a:t>Before you start: </a:t>
            </a:r>
            <a:r>
              <a:rPr lang="en-MY" sz="3200" dirty="0"/>
              <a:t>Trace BFS, DFS and UCS(Lab 1) and explain what a priority queue does. </a:t>
            </a:r>
          </a:p>
          <a:p>
            <a:r>
              <a:rPr lang="en-MY" sz="3200" b="1" dirty="0"/>
              <a:t>By the end, you can: </a:t>
            </a:r>
            <a:r>
              <a:rPr lang="en-MY" sz="3200" dirty="0"/>
              <a:t>define a heuristic and compute g, h and f for a state; trace Greedy Best-First Search and A⋆; decide whether a heuristic is admissible and why that matters; and read the effort versus-quality trade-off in Lab 2’s tables.</a:t>
            </a:r>
          </a:p>
        </p:txBody>
      </p:sp>
    </p:spTree>
    <p:extLst>
      <p:ext uri="{BB962C8B-B14F-4D97-AF65-F5344CB8AC3E}">
        <p14:creationId xmlns:p14="http://schemas.microsoft.com/office/powerpoint/2010/main" val="3162996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TOPIC</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7A1256F-01ED-6251-D28B-5D99463419F9}"/>
              </a:ext>
            </a:extLst>
          </p:cNvPr>
          <p:cNvSpPr txBox="1"/>
          <p:nvPr/>
        </p:nvSpPr>
        <p:spPr>
          <a:xfrm>
            <a:off x="757618" y="1790700"/>
            <a:ext cx="16353523" cy="3539430"/>
          </a:xfrm>
          <a:prstGeom prst="rect">
            <a:avLst/>
          </a:prstGeom>
          <a:noFill/>
        </p:spPr>
        <p:txBody>
          <a:bodyPr wrap="square" rtlCol="0">
            <a:spAutoFit/>
          </a:bodyPr>
          <a:lstStyle/>
          <a:p>
            <a:r>
              <a:rPr lang="en-MY" sz="3200" b="1" dirty="0"/>
              <a:t>Scenario</a:t>
            </a:r>
            <a:r>
              <a:rPr lang="en-MY" sz="3200" dirty="0"/>
              <a:t>. Improve the Lab1 planner by adding geographic knowledge while keeping a clear quality baseline. </a:t>
            </a:r>
          </a:p>
          <a:p>
            <a:r>
              <a:rPr lang="en-MY" sz="3200" b="1" dirty="0"/>
              <a:t>Objective</a:t>
            </a:r>
            <a:r>
              <a:rPr lang="en-MY" sz="3200" dirty="0"/>
              <a:t>. Run GBFS and A⋆ with a Haversine heuristic, check admissibility, and measure quality against search effort. </a:t>
            </a:r>
          </a:p>
          <a:p>
            <a:r>
              <a:rPr lang="en-MY" sz="3200" b="1" dirty="0"/>
              <a:t>Data</a:t>
            </a:r>
            <a:r>
              <a:rPr lang="en-MY" sz="3200" dirty="0"/>
              <a:t>. The Lab1 Open Flights files. </a:t>
            </a:r>
          </a:p>
          <a:p>
            <a:r>
              <a:rPr lang="en-MY" sz="3200" b="1" dirty="0"/>
              <a:t>Notebook</a:t>
            </a:r>
            <a:r>
              <a:rPr lang="en-MY" sz="3200" dirty="0"/>
              <a:t>. </a:t>
            </a:r>
            <a:r>
              <a:rPr lang="en-MY" sz="3200" i="1" dirty="0" err="1"/>
              <a:t>all_experiments</a:t>
            </a:r>
            <a:r>
              <a:rPr lang="en-MY" sz="3200" i="1" dirty="0"/>
              <a:t>/lab02_informed_search_worked.ipynb </a:t>
            </a:r>
            <a:r>
              <a:rPr lang="en-MY" sz="3200" dirty="0"/>
              <a:t>and the shared </a:t>
            </a:r>
            <a:r>
              <a:rPr lang="en-MY" sz="3200" i="1" dirty="0" err="1"/>
              <a:t>all_experiments</a:t>
            </a:r>
            <a:r>
              <a:rPr lang="en-MY" sz="3200" i="1" dirty="0"/>
              <a:t>/utils/.</a:t>
            </a:r>
            <a:endParaRPr lang="en-MY" sz="2400" i="1" dirty="0"/>
          </a:p>
        </p:txBody>
      </p:sp>
    </p:spTree>
    <p:extLst>
      <p:ext uri="{BB962C8B-B14F-4D97-AF65-F5344CB8AC3E}">
        <p14:creationId xmlns:p14="http://schemas.microsoft.com/office/powerpoint/2010/main" val="1717797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D69E3-AAD6-E89C-B20A-6EFAFE47FA8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3DAA771-0093-7A36-BC12-956BD3A4458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76CA78-E8B1-BAA6-33AE-DB0B1F19EF7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290FF45-7A4E-2E78-E2E3-5FEEF9AF9C60}"/>
              </a:ext>
            </a:extLst>
          </p:cNvPr>
          <p:cNvSpPr txBox="1"/>
          <p:nvPr/>
        </p:nvSpPr>
        <p:spPr>
          <a:xfrm>
            <a:off x="990600" y="357187"/>
            <a:ext cx="7210425"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Three quantities on one path</a:t>
            </a:r>
            <a:endParaRPr kumimoji="0" lang="en-US" sz="3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A1D8692-C85E-FF6C-C85A-0C52D407BF0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82E224B4-1BDE-6074-E166-AD2499656B2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70F4FBE-F16E-86C3-2443-4F0B4CEE0EC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88903BB-52CF-8BE9-51F2-165E60CD0FFD}"/>
              </a:ext>
            </a:extLst>
          </p:cNvPr>
          <p:cNvSpPr txBox="1"/>
          <p:nvPr/>
        </p:nvSpPr>
        <p:spPr>
          <a:xfrm>
            <a:off x="990600" y="1523595"/>
            <a:ext cx="12639675" cy="523220"/>
          </a:xfrm>
          <a:prstGeom prst="rect">
            <a:avLst/>
          </a:prstGeom>
          <a:noFill/>
        </p:spPr>
        <p:txBody>
          <a:bodyPr wrap="square" rtlCol="0">
            <a:spAutoFit/>
          </a:bodyPr>
          <a:lstStyle/>
          <a:p>
            <a:r>
              <a:rPr lang="en-MY" sz="2800" dirty="0"/>
              <a:t>Every informed method reasons about a frontier state n using up to three numbers:</a:t>
            </a:r>
            <a:endParaRPr lang="en-MY" sz="2600" dirty="0"/>
          </a:p>
        </p:txBody>
      </p:sp>
      <p:graphicFrame>
        <p:nvGraphicFramePr>
          <p:cNvPr id="4" name="Table 3">
            <a:extLst>
              <a:ext uri="{FF2B5EF4-FFF2-40B4-BE49-F238E27FC236}">
                <a16:creationId xmlns:a16="http://schemas.microsoft.com/office/drawing/2014/main" id="{6A425F11-305E-AA74-3535-24FA926D6B47}"/>
              </a:ext>
            </a:extLst>
          </p:cNvPr>
          <p:cNvGraphicFramePr>
            <a:graphicFrameLocks noGrp="1"/>
          </p:cNvGraphicFramePr>
          <p:nvPr>
            <p:extLst>
              <p:ext uri="{D42A27DB-BD31-4B8C-83A1-F6EECF244321}">
                <p14:modId xmlns:p14="http://schemas.microsoft.com/office/powerpoint/2010/main" val="1730820827"/>
              </p:ext>
            </p:extLst>
          </p:nvPr>
        </p:nvGraphicFramePr>
        <p:xfrm>
          <a:off x="990600" y="2162094"/>
          <a:ext cx="16540953" cy="2698584"/>
        </p:xfrm>
        <a:graphic>
          <a:graphicData uri="http://schemas.openxmlformats.org/drawingml/2006/table">
            <a:tbl>
              <a:tblPr firstRow="1" bandRow="1">
                <a:tableStyleId>{5C22544A-7EE6-4342-B048-85BDC9FD1C3A}</a:tableStyleId>
              </a:tblPr>
              <a:tblGrid>
                <a:gridCol w="3424237">
                  <a:extLst>
                    <a:ext uri="{9D8B030D-6E8A-4147-A177-3AD203B41FA5}">
                      <a16:colId xmlns:a16="http://schemas.microsoft.com/office/drawing/2014/main" val="2571196255"/>
                    </a:ext>
                  </a:extLst>
                </a:gridCol>
                <a:gridCol w="9729787">
                  <a:extLst>
                    <a:ext uri="{9D8B030D-6E8A-4147-A177-3AD203B41FA5}">
                      <a16:colId xmlns:a16="http://schemas.microsoft.com/office/drawing/2014/main" val="3853642284"/>
                    </a:ext>
                  </a:extLst>
                </a:gridCol>
                <a:gridCol w="3386929">
                  <a:extLst>
                    <a:ext uri="{9D8B030D-6E8A-4147-A177-3AD203B41FA5}">
                      <a16:colId xmlns:a16="http://schemas.microsoft.com/office/drawing/2014/main" val="2970628133"/>
                    </a:ext>
                  </a:extLst>
                </a:gridCol>
              </a:tblGrid>
              <a:tr h="464669">
                <a:tc>
                  <a:txBody>
                    <a:bodyPr/>
                    <a:lstStyle/>
                    <a:p>
                      <a:pPr algn="ctr"/>
                      <a:r>
                        <a:rPr lang="en-MY" sz="3200" dirty="0"/>
                        <a:t>Quantity</a:t>
                      </a:r>
                    </a:p>
                  </a:txBody>
                  <a:tcPr/>
                </a:tc>
                <a:tc>
                  <a:txBody>
                    <a:bodyPr/>
                    <a:lstStyle/>
                    <a:p>
                      <a:pPr algn="ctr"/>
                      <a:r>
                        <a:rPr lang="en-MY" sz="3200" dirty="0"/>
                        <a:t>Meaning</a:t>
                      </a:r>
                    </a:p>
                  </a:txBody>
                  <a:tcPr/>
                </a:tc>
                <a:tc>
                  <a:txBody>
                    <a:bodyPr/>
                    <a:lstStyle/>
                    <a:p>
                      <a:pPr algn="ctr"/>
                      <a:r>
                        <a:rPr lang="en-MY" sz="3200" dirty="0"/>
                        <a:t>Used by</a:t>
                      </a:r>
                    </a:p>
                  </a:txBody>
                  <a:tcPr/>
                </a:tc>
                <a:extLst>
                  <a:ext uri="{0D108BD9-81ED-4DB2-BD59-A6C34878D82A}">
                    <a16:rowId xmlns:a16="http://schemas.microsoft.com/office/drawing/2014/main" val="2082909499"/>
                  </a:ext>
                </a:extLst>
              </a:tr>
              <a:tr h="706488">
                <a:tc>
                  <a:txBody>
                    <a:bodyPr/>
                    <a:lstStyle/>
                    <a:p>
                      <a:r>
                        <a:rPr lang="en-MY" sz="3200" i="1" dirty="0"/>
                        <a:t>g(n)</a:t>
                      </a:r>
                    </a:p>
                  </a:txBody>
                  <a:tcPr/>
                </a:tc>
                <a:tc>
                  <a:txBody>
                    <a:bodyPr/>
                    <a:lstStyle/>
                    <a:p>
                      <a:r>
                        <a:rPr lang="en-MY" sz="3200" dirty="0"/>
                        <a:t>Exact cost of the cheapest known path from the start to </a:t>
                      </a:r>
                      <a:r>
                        <a:rPr lang="en-MY" sz="3200" i="1" dirty="0"/>
                        <a:t>n</a:t>
                      </a:r>
                    </a:p>
                  </a:txBody>
                  <a:tcPr/>
                </a:tc>
                <a:tc>
                  <a:txBody>
                    <a:bodyPr/>
                    <a:lstStyle/>
                    <a:p>
                      <a:r>
                        <a:rPr lang="en-MY" sz="3200" dirty="0"/>
                        <a:t>UCS, A⋆</a:t>
                      </a:r>
                    </a:p>
                  </a:txBody>
                  <a:tcPr/>
                </a:tc>
                <a:extLst>
                  <a:ext uri="{0D108BD9-81ED-4DB2-BD59-A6C34878D82A}">
                    <a16:rowId xmlns:a16="http://schemas.microsoft.com/office/drawing/2014/main" val="4145721776"/>
                  </a:ext>
                </a:extLst>
              </a:tr>
              <a:tr h="706488">
                <a:tc>
                  <a:txBody>
                    <a:bodyPr/>
                    <a:lstStyle/>
                    <a:p>
                      <a:r>
                        <a:rPr lang="en-MY" sz="3200" i="1" dirty="0"/>
                        <a:t>h(n)</a:t>
                      </a:r>
                    </a:p>
                  </a:txBody>
                  <a:tcPr/>
                </a:tc>
                <a:tc>
                  <a:txBody>
                    <a:bodyPr/>
                    <a:lstStyle/>
                    <a:p>
                      <a:r>
                        <a:rPr lang="en-MY" sz="3200" dirty="0"/>
                        <a:t>Estimated cost from </a:t>
                      </a:r>
                      <a:r>
                        <a:rPr lang="en-MY" sz="3200" i="1" dirty="0"/>
                        <a:t>n</a:t>
                      </a:r>
                      <a:r>
                        <a:rPr lang="en-MY" sz="3200" dirty="0"/>
                        <a:t> to the goal — the heuristic</a:t>
                      </a:r>
                    </a:p>
                  </a:txBody>
                  <a:tcPr/>
                </a:tc>
                <a:tc>
                  <a:txBody>
                    <a:bodyPr/>
                    <a:lstStyle/>
                    <a:p>
                      <a:r>
                        <a:rPr lang="en-MY" sz="3200" dirty="0"/>
                        <a:t>GBFS, A⋆</a:t>
                      </a:r>
                    </a:p>
                  </a:txBody>
                  <a:tcPr/>
                </a:tc>
                <a:extLst>
                  <a:ext uri="{0D108BD9-81ED-4DB2-BD59-A6C34878D82A}">
                    <a16:rowId xmlns:a16="http://schemas.microsoft.com/office/drawing/2014/main" val="3271556161"/>
                  </a:ext>
                </a:extLst>
              </a:tr>
              <a:tr h="706488">
                <a:tc>
                  <a:txBody>
                    <a:bodyPr/>
                    <a:lstStyle/>
                    <a:p>
                      <a:r>
                        <a:rPr lang="en-MY" sz="3200" i="1" dirty="0"/>
                        <a:t>f(n) = g(n) +h(n)</a:t>
                      </a:r>
                    </a:p>
                  </a:txBody>
                  <a:tcPr/>
                </a:tc>
                <a:tc>
                  <a:txBody>
                    <a:bodyPr/>
                    <a:lstStyle/>
                    <a:p>
                      <a:r>
                        <a:rPr lang="en-MY" sz="3200" dirty="0"/>
                        <a:t>Estimated total cost of a solution through </a:t>
                      </a:r>
                      <a:r>
                        <a:rPr lang="en-MY" sz="3200" i="1" dirty="0"/>
                        <a:t>n</a:t>
                      </a:r>
                    </a:p>
                  </a:txBody>
                  <a:tcPr/>
                </a:tc>
                <a:tc>
                  <a:txBody>
                    <a:bodyPr/>
                    <a:lstStyle/>
                    <a:p>
                      <a:r>
                        <a:rPr lang="en-MY" sz="3200" dirty="0"/>
                        <a:t>A⋆</a:t>
                      </a:r>
                    </a:p>
                  </a:txBody>
                  <a:tcPr/>
                </a:tc>
                <a:extLst>
                  <a:ext uri="{0D108BD9-81ED-4DB2-BD59-A6C34878D82A}">
                    <a16:rowId xmlns:a16="http://schemas.microsoft.com/office/drawing/2014/main" val="280298362"/>
                  </a:ext>
                </a:extLst>
              </a:tr>
            </a:tbl>
          </a:graphicData>
        </a:graphic>
      </p:graphicFrame>
      <p:sp>
        <p:nvSpPr>
          <p:cNvPr id="8" name="TextBox 7">
            <a:extLst>
              <a:ext uri="{FF2B5EF4-FFF2-40B4-BE49-F238E27FC236}">
                <a16:creationId xmlns:a16="http://schemas.microsoft.com/office/drawing/2014/main" id="{54C4802B-AF29-454A-2B2A-F8765F568C3D}"/>
              </a:ext>
            </a:extLst>
          </p:cNvPr>
          <p:cNvSpPr txBox="1"/>
          <p:nvPr/>
        </p:nvSpPr>
        <p:spPr>
          <a:xfrm>
            <a:off x="990599" y="5242251"/>
            <a:ext cx="16540953" cy="523220"/>
          </a:xfrm>
          <a:prstGeom prst="rect">
            <a:avLst/>
          </a:prstGeom>
          <a:noFill/>
        </p:spPr>
        <p:txBody>
          <a:bodyPr wrap="square">
            <a:spAutoFit/>
          </a:bodyPr>
          <a:lstStyle/>
          <a:p>
            <a:r>
              <a:rPr lang="en-MY" sz="2800" dirty="0"/>
              <a:t>Figure 2.1 separates known cost from estimated remaining cost: UCS uses </a:t>
            </a:r>
            <a:r>
              <a:rPr lang="en-MY" sz="2800" dirty="0" err="1"/>
              <a:t>theformer</a:t>
            </a:r>
            <a:r>
              <a:rPr lang="en-MY" sz="2800" dirty="0"/>
              <a:t>, </a:t>
            </a:r>
            <a:r>
              <a:rPr lang="en-MY" sz="2800" dirty="0" err="1"/>
              <a:t>GBFSthelatter</a:t>
            </a:r>
            <a:r>
              <a:rPr lang="en-MY" sz="2800" dirty="0"/>
              <a:t>, and A⋆ both.</a:t>
            </a:r>
          </a:p>
        </p:txBody>
      </p:sp>
      <p:pic>
        <p:nvPicPr>
          <p:cNvPr id="13" name="Picture 12">
            <a:extLst>
              <a:ext uri="{FF2B5EF4-FFF2-40B4-BE49-F238E27FC236}">
                <a16:creationId xmlns:a16="http://schemas.microsoft.com/office/drawing/2014/main" id="{991E4F0F-4845-25D5-ECFC-11B26BB3E77E}"/>
              </a:ext>
            </a:extLst>
          </p:cNvPr>
          <p:cNvPicPr>
            <a:picLocks noChangeAspect="1"/>
          </p:cNvPicPr>
          <p:nvPr/>
        </p:nvPicPr>
        <p:blipFill>
          <a:blip r:embed="rId3"/>
          <a:stretch>
            <a:fillRect/>
          </a:stretch>
        </p:blipFill>
        <p:spPr>
          <a:xfrm>
            <a:off x="3309695" y="5889770"/>
            <a:ext cx="9782660" cy="3603377"/>
          </a:xfrm>
          <a:prstGeom prst="rect">
            <a:avLst/>
          </a:prstGeom>
        </p:spPr>
      </p:pic>
    </p:spTree>
    <p:extLst>
      <p:ext uri="{BB962C8B-B14F-4D97-AF65-F5344CB8AC3E}">
        <p14:creationId xmlns:p14="http://schemas.microsoft.com/office/powerpoint/2010/main" val="1044569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862E9-F54B-B087-DCBF-6460B684E8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48980F-82D1-EA4E-47E6-6EE24D6B39A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3FDB01E-F971-DBA0-B492-36082CBB644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34B1EFF-76C9-0A5A-AFD7-3CECD8249562}"/>
              </a:ext>
            </a:extLst>
          </p:cNvPr>
          <p:cNvSpPr txBox="1"/>
          <p:nvPr/>
        </p:nvSpPr>
        <p:spPr>
          <a:xfrm>
            <a:off x="990600" y="357187"/>
            <a:ext cx="7210425"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Haversine heuristic</a:t>
            </a:r>
            <a:endParaRPr lang="en-US"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8CF1AFE-CF34-F1FE-4311-62830A81502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6C64631D-62C3-E69A-389C-987D176833A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10B01C5-666B-2D11-797F-6C3D06354C0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B929406-DD43-521F-000F-E6FC4AAF902A}"/>
              </a:ext>
            </a:extLst>
          </p:cNvPr>
          <p:cNvSpPr txBox="1"/>
          <p:nvPr/>
        </p:nvSpPr>
        <p:spPr>
          <a:xfrm>
            <a:off x="1139327" y="1559187"/>
            <a:ext cx="15971815" cy="1384995"/>
          </a:xfrm>
          <a:prstGeom prst="rect">
            <a:avLst/>
          </a:prstGeom>
          <a:noFill/>
        </p:spPr>
        <p:txBody>
          <a:bodyPr wrap="square" rtlCol="0">
            <a:spAutoFit/>
          </a:bodyPr>
          <a:lstStyle/>
          <a:p>
            <a:r>
              <a:rPr lang="en-MY" sz="2800" dirty="0"/>
              <a:t>A heuristic should be cheap to compute and use the same units as path cost. For kilometre-based routes, use the great-circle distance to the goal, whether or not a direct flight exists. The Haversine formula computes it from latitude–longitude pairs:</a:t>
            </a:r>
            <a:endParaRPr lang="en-MY" sz="2600" dirty="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135D35F-0814-4E23-CF1C-0C55345F9887}"/>
                  </a:ext>
                </a:extLst>
              </p:cNvPr>
              <p:cNvSpPr txBox="1"/>
              <p:nvPr/>
            </p:nvSpPr>
            <p:spPr>
              <a:xfrm>
                <a:off x="4241493" y="3112373"/>
                <a:ext cx="9144000" cy="910699"/>
              </a:xfrm>
              <a:prstGeom prst="rect">
                <a:avLst/>
              </a:prstGeom>
              <a:noFill/>
            </p:spPr>
            <p:txBody>
              <a:bodyPr wrap="square">
                <a:spAutoFit/>
              </a:bodyPr>
              <a:lstStyle/>
              <a:p>
                <a14:m>
                  <m:oMathPara xmlns:m="http://schemas.openxmlformats.org/officeDocument/2006/math">
                    <m:oMath>
                      <m:r>
                        <a:rPr lang="en-US" b="0" i="1" smtClean="0">
                          <a:latin typeface="Cambria Math" panose="02040503050406030204" pitchFamily="18" charset="0"/>
                        </a:rPr>
                        <m:t>ℎ</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𝑎𝑟𝑐𝑠𝑖𝑛</m:t>
                      </m:r>
                      <m:rad>
                        <m:radPr>
                          <m:degHide m:val="on"/>
                          <m:ctrlPr>
                            <a:rPr lang="en-MY" b="0" i="1" smtClean="0">
                              <a:latin typeface="Cambria Math" panose="02040503050406030204" pitchFamily="18" charset="0"/>
                            </a:rPr>
                          </m:ctrlPr>
                        </m:radPr>
                        <m:deg/>
                        <m:e>
                          <m:func>
                            <m:funcPr>
                              <m:ctrlPr>
                                <a:rPr lang="en-MY"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𝑠𝑖𝑛</m:t>
                                  </m:r>
                                </m:e>
                                <m:sup>
                                  <m:r>
                                    <a:rPr lang="en-US" b="0" i="1" smtClean="0">
                                      <a:latin typeface="Cambria Math" panose="02040503050406030204" pitchFamily="18" charset="0"/>
                                    </a:rPr>
                                    <m:t>2</m:t>
                                  </m:r>
                                </m:sup>
                              </m:sSup>
                            </m:fName>
                            <m:e>
                              <m:f>
                                <m:fPr>
                                  <m:ctrlPr>
                                    <a:rPr lang="en-MY" b="0" i="1" smtClean="0">
                                      <a:latin typeface="Cambria Math" panose="02040503050406030204" pitchFamily="18" charset="0"/>
                                      <a:ea typeface="Cambria Math" panose="02040503050406030204" pitchFamily="18" charset="0"/>
                                    </a:rPr>
                                  </m:ctrlPr>
                                </m:fPr>
                                <m:num>
                                  <m:r>
                                    <a:rPr lang="en-MY" b="0" i="1" smtClean="0">
                                      <a:latin typeface="Cambria Math" panose="02040503050406030204" pitchFamily="18" charset="0"/>
                                      <a:ea typeface="Cambria Math" panose="02040503050406030204" pitchFamily="18" charset="0"/>
                                    </a:rPr>
                                    <m:t>∆</m:t>
                                  </m:r>
                                  <m:r>
                                    <a:rPr lang="en-MY" b="0" i="1" smtClean="0">
                                      <a:latin typeface="Cambria Math" panose="02040503050406030204" pitchFamily="18" charset="0"/>
                                      <a:ea typeface="Cambria Math" panose="02040503050406030204" pitchFamily="18" charset="0"/>
                                    </a:rPr>
                                    <m:t>𝜑</m:t>
                                  </m:r>
                                </m:num>
                                <m:den>
                                  <m:r>
                                    <a:rPr lang="en-US" b="0" i="1" smtClean="0">
                                      <a:latin typeface="Cambria Math" panose="02040503050406030204" pitchFamily="18" charset="0"/>
                                    </a:rPr>
                                    <m:t>2</m:t>
                                  </m:r>
                                </m:den>
                              </m:f>
                              <m:r>
                                <a:rPr lang="en-MY"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func>
                                <m:funcPr>
                                  <m:ctrlPr>
                                    <a:rPr lang="en-MY" b="0" i="0" smtClean="0">
                                      <a:latin typeface="Cambria Math" panose="02040503050406030204" pitchFamily="18" charset="0"/>
                                      <a:ea typeface="Cambria Math" panose="02040503050406030204" pitchFamily="18" charset="0"/>
                                    </a:rPr>
                                  </m:ctrlPr>
                                </m:funcPr>
                                <m:fName>
                                  <m:r>
                                    <m:rPr>
                                      <m:sty m:val="p"/>
                                    </m:rPr>
                                    <a:rPr lang="en-MY" b="0" i="0" smtClean="0">
                                      <a:latin typeface="Cambria Math" panose="02040503050406030204" pitchFamily="18" charset="0"/>
                                      <a:ea typeface="Cambria Math" panose="02040503050406030204" pitchFamily="18" charset="0"/>
                                    </a:rPr>
                                    <m:t>cos</m:t>
                                  </m:r>
                                </m:fName>
                                <m:e>
                                  <m:sSub>
                                    <m:sSubPr>
                                      <m:ctrlPr>
                                        <a:rPr lang="en-MY" b="0" i="1" smtClean="0">
                                          <a:latin typeface="Cambria Math" panose="02040503050406030204" pitchFamily="18" charset="0"/>
                                          <a:ea typeface="Cambria Math" panose="02040503050406030204" pitchFamily="18" charset="0"/>
                                        </a:rPr>
                                      </m:ctrlPr>
                                    </m:sSubPr>
                                    <m:e>
                                      <m:r>
                                        <a:rPr lang="en-MY"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𝑛</m:t>
                                      </m:r>
                                    </m:sub>
                                  </m:sSub>
                                  <m:func>
                                    <m:funcPr>
                                      <m:ctrlPr>
                                        <a:rPr lang="en-MY" b="0" i="0" smtClean="0">
                                          <a:latin typeface="Cambria Math" panose="02040503050406030204" pitchFamily="18" charset="0"/>
                                          <a:ea typeface="Cambria Math" panose="02040503050406030204" pitchFamily="18" charset="0"/>
                                        </a:rPr>
                                      </m:ctrlPr>
                                    </m:funcPr>
                                    <m:fName>
                                      <m:r>
                                        <m:rPr>
                                          <m:sty m:val="p"/>
                                        </m:rPr>
                                        <a:rPr lang="en-MY" b="0" i="0" smtClean="0">
                                          <a:latin typeface="Cambria Math" panose="02040503050406030204" pitchFamily="18" charset="0"/>
                                          <a:ea typeface="Cambria Math" panose="02040503050406030204" pitchFamily="18" charset="0"/>
                                        </a:rPr>
                                        <m:t>cos</m:t>
                                      </m:r>
                                    </m:fName>
                                    <m:e>
                                      <m:r>
                                        <a:rPr lang="en-MY"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𝑔𝑜𝑎𝑙</m:t>
                                      </m:r>
                                      <m:func>
                                        <m:funcPr>
                                          <m:ctrlPr>
                                            <a:rPr lang="en-MY" b="0" i="1" smtClean="0">
                                              <a:latin typeface="Cambria Math" panose="02040503050406030204" pitchFamily="18" charset="0"/>
                                              <a:ea typeface="Cambria Math" panose="02040503050406030204" pitchFamily="18" charset="0"/>
                                            </a:rPr>
                                          </m:ctrlPr>
                                        </m:funcPr>
                                        <m:fNa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𝑠𝑖𝑛</m:t>
                                              </m:r>
                                            </m:e>
                                            <m:sup>
                                              <m:r>
                                                <a:rPr lang="en-US" b="0" i="1" smtClean="0">
                                                  <a:latin typeface="Cambria Math" panose="02040503050406030204" pitchFamily="18" charset="0"/>
                                                  <a:ea typeface="Cambria Math" panose="02040503050406030204" pitchFamily="18" charset="0"/>
                                                </a:rPr>
                                                <m:t>2</m:t>
                                              </m:r>
                                            </m:sup>
                                          </m:sSup>
                                        </m:fName>
                                        <m:e>
                                          <m:f>
                                            <m:fPr>
                                              <m:ctrlPr>
                                                <a:rPr lang="en-MY" b="0" i="1" smtClean="0">
                                                  <a:latin typeface="Cambria Math" panose="02040503050406030204" pitchFamily="18" charset="0"/>
                                                  <a:ea typeface="Cambria Math" panose="02040503050406030204" pitchFamily="18" charset="0"/>
                                                </a:rPr>
                                              </m:ctrlPr>
                                            </m:fPr>
                                            <m:num>
                                              <m:r>
                                                <a:rPr lang="en-MY"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2</m:t>
                                              </m:r>
                                            </m:den>
                                          </m:f>
                                        </m:e>
                                      </m:func>
                                    </m:e>
                                  </m:func>
                                </m:e>
                              </m:func>
                            </m:e>
                          </m:func>
                        </m:e>
                      </m:rad>
                    </m:oMath>
                  </m:oMathPara>
                </a14:m>
                <a:endParaRPr lang="en-MY" dirty="0"/>
              </a:p>
            </p:txBody>
          </p:sp>
        </mc:Choice>
        <mc:Fallback>
          <p:sp>
            <p:nvSpPr>
              <p:cNvPr id="13" name="TextBox 12">
                <a:extLst>
                  <a:ext uri="{FF2B5EF4-FFF2-40B4-BE49-F238E27FC236}">
                    <a16:creationId xmlns:a16="http://schemas.microsoft.com/office/drawing/2014/main" id="{9135D35F-0814-4E23-CF1C-0C55345F9887}"/>
                  </a:ext>
                </a:extLst>
              </p:cNvPr>
              <p:cNvSpPr txBox="1">
                <a:spLocks noRot="1" noChangeAspect="1" noMove="1" noResize="1" noEditPoints="1" noAdjustHandles="1" noChangeArrowheads="1" noChangeShapeType="1" noTextEdit="1"/>
              </p:cNvSpPr>
              <p:nvPr/>
            </p:nvSpPr>
            <p:spPr>
              <a:xfrm>
                <a:off x="4241493" y="3112373"/>
                <a:ext cx="9144000" cy="910699"/>
              </a:xfrm>
              <a:prstGeom prst="rect">
                <a:avLst/>
              </a:prstGeom>
              <a:blipFill>
                <a:blip r:embed="rId3"/>
                <a:stretch>
                  <a:fillRect/>
                </a:stretch>
              </a:blipFill>
            </p:spPr>
            <p:txBody>
              <a:bodyPr/>
              <a:lstStyle/>
              <a:p>
                <a:r>
                  <a:rPr lang="en-MY">
                    <a:noFill/>
                  </a:rPr>
                  <a:t> </a:t>
                </a:r>
              </a:p>
            </p:txBody>
          </p:sp>
        </mc:Fallback>
      </mc:AlternateContent>
      <p:sp>
        <p:nvSpPr>
          <p:cNvPr id="15" name="TextBox 14">
            <a:extLst>
              <a:ext uri="{FF2B5EF4-FFF2-40B4-BE49-F238E27FC236}">
                <a16:creationId xmlns:a16="http://schemas.microsoft.com/office/drawing/2014/main" id="{9543A776-F364-DBEC-32ED-6376AC807B8F}"/>
              </a:ext>
            </a:extLst>
          </p:cNvPr>
          <p:cNvSpPr txBox="1"/>
          <p:nvPr/>
        </p:nvSpPr>
        <p:spPr>
          <a:xfrm>
            <a:off x="1139327" y="4259600"/>
            <a:ext cx="15932646" cy="954107"/>
          </a:xfrm>
          <a:prstGeom prst="rect">
            <a:avLst/>
          </a:prstGeom>
          <a:noFill/>
        </p:spPr>
        <p:txBody>
          <a:bodyPr wrap="square">
            <a:spAutoFit/>
          </a:bodyPr>
          <a:lstStyle/>
          <a:p>
            <a:r>
              <a:rPr lang="en-MY" sz="2800" dirty="0"/>
              <a:t>with R = 6371 km. The same formula gives every edge weight in the graph, so h and g are directly comparable. In Lab 2 the heuristic is a small function that fixes the goal and returns a function of the airport:</a:t>
            </a:r>
          </a:p>
        </p:txBody>
      </p:sp>
      <p:sp>
        <p:nvSpPr>
          <p:cNvPr id="17" name="TextBox 16">
            <a:extLst>
              <a:ext uri="{FF2B5EF4-FFF2-40B4-BE49-F238E27FC236}">
                <a16:creationId xmlns:a16="http://schemas.microsoft.com/office/drawing/2014/main" id="{2A49321D-2576-59E6-DCBF-6B056D76E2F8}"/>
              </a:ext>
            </a:extLst>
          </p:cNvPr>
          <p:cNvSpPr txBox="1"/>
          <p:nvPr/>
        </p:nvSpPr>
        <p:spPr>
          <a:xfrm>
            <a:off x="1139327" y="5427821"/>
            <a:ext cx="15932646" cy="1477328"/>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MY" dirty="0">
                <a:latin typeface="Cascadia Code" panose="020B0609020000020004" pitchFamily="49" charset="0"/>
                <a:cs typeface="Cascadia Code" panose="020B0609020000020004" pitchFamily="49" charset="0"/>
              </a:rPr>
              <a:t>def </a:t>
            </a:r>
            <a:r>
              <a:rPr lang="en-MY" dirty="0" err="1">
                <a:latin typeface="Cascadia Code" panose="020B0609020000020004" pitchFamily="49" charset="0"/>
                <a:cs typeface="Cascadia Code" panose="020B0609020000020004" pitchFamily="49" charset="0"/>
              </a:rPr>
              <a:t>heuristic_to</a:t>
            </a:r>
            <a:r>
              <a:rPr lang="en-MY" dirty="0">
                <a:latin typeface="Cascadia Code" panose="020B0609020000020004" pitchFamily="49" charset="0"/>
                <a:cs typeface="Cascadia Code" panose="020B0609020000020004" pitchFamily="49" charset="0"/>
              </a:rPr>
              <a:t>(goal, weight=1.0): </a:t>
            </a:r>
          </a:p>
          <a:p>
            <a:r>
              <a:rPr lang="en-MY" dirty="0">
                <a:latin typeface="Cascadia Code" panose="020B0609020000020004" pitchFamily="49" charset="0"/>
                <a:cs typeface="Cascadia Code" panose="020B0609020000020004" pitchFamily="49" charset="0"/>
              </a:rPr>
              <a:t>	def h(airport): </a:t>
            </a:r>
          </a:p>
          <a:p>
            <a:r>
              <a:rPr lang="en-MY" dirty="0">
                <a:latin typeface="Cascadia Code" panose="020B0609020000020004" pitchFamily="49" charset="0"/>
                <a:cs typeface="Cascadia Code" panose="020B0609020000020004" pitchFamily="49" charset="0"/>
              </a:rPr>
              <a:t>		return weight * </a:t>
            </a:r>
            <a:r>
              <a:rPr lang="en-MY" dirty="0" err="1">
                <a:latin typeface="Cascadia Code" panose="020B0609020000020004" pitchFamily="49" charset="0"/>
                <a:cs typeface="Cascadia Code" panose="020B0609020000020004" pitchFamily="49" charset="0"/>
              </a:rPr>
              <a:t>haversine_km</a:t>
            </a:r>
            <a:r>
              <a:rPr lang="en-MY" dirty="0">
                <a:latin typeface="Cascadia Code" panose="020B0609020000020004" pitchFamily="49" charset="0"/>
                <a:cs typeface="Cascadia Code" panose="020B0609020000020004" pitchFamily="49" charset="0"/>
              </a:rPr>
              <a:t>(coords[airport]["latitude"], coords[airport]["longitude"], coords[goal]["latitude"], coords[goal]["longitude"]) </a:t>
            </a:r>
          </a:p>
          <a:p>
            <a:r>
              <a:rPr lang="en-MY" dirty="0">
                <a:latin typeface="Cascadia Code" panose="020B0609020000020004" pitchFamily="49" charset="0"/>
                <a:cs typeface="Cascadia Code" panose="020B0609020000020004" pitchFamily="49" charset="0"/>
              </a:rPr>
              <a:t>	return h</a:t>
            </a:r>
          </a:p>
        </p:txBody>
      </p:sp>
      <p:sp>
        <p:nvSpPr>
          <p:cNvPr id="19" name="TextBox 18">
            <a:extLst>
              <a:ext uri="{FF2B5EF4-FFF2-40B4-BE49-F238E27FC236}">
                <a16:creationId xmlns:a16="http://schemas.microsoft.com/office/drawing/2014/main" id="{5E66EA60-4026-8C43-3A71-2476F7C2FF9F}"/>
              </a:ext>
            </a:extLst>
          </p:cNvPr>
          <p:cNvSpPr txBox="1"/>
          <p:nvPr/>
        </p:nvSpPr>
        <p:spPr>
          <a:xfrm>
            <a:off x="1139327" y="7584449"/>
            <a:ext cx="15932645" cy="954107"/>
          </a:xfrm>
          <a:prstGeom prst="rect">
            <a:avLst/>
          </a:prstGeom>
          <a:noFill/>
        </p:spPr>
        <p:txBody>
          <a:bodyPr wrap="square">
            <a:spAutoFit/>
          </a:bodyPr>
          <a:lstStyle/>
          <a:p>
            <a:r>
              <a:rPr lang="en-MY" sz="2800" dirty="0"/>
              <a:t>utils/core.py accepts any state-to-number callable, so changing the heuristic requires no changes to the search code.</a:t>
            </a:r>
          </a:p>
        </p:txBody>
      </p:sp>
    </p:spTree>
    <p:extLst>
      <p:ext uri="{BB962C8B-B14F-4D97-AF65-F5344CB8AC3E}">
        <p14:creationId xmlns:p14="http://schemas.microsoft.com/office/powerpoint/2010/main" val="71604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80EE9-5F6F-A7D8-09FC-8C18014AAE0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59C34F1-34DE-4728-3899-F3C6FD6C5C6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6F9DD89-2B89-0AB4-4E0D-1C1ADB331AC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621D831-E969-89A9-DC5F-BDB8D4DF60B6}"/>
              </a:ext>
            </a:extLst>
          </p:cNvPr>
          <p:cNvSpPr txBox="1"/>
          <p:nvPr/>
        </p:nvSpPr>
        <p:spPr>
          <a:xfrm>
            <a:off x="990600" y="357187"/>
            <a:ext cx="7210425"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Greedy Best-First Search</a:t>
            </a:r>
            <a:endParaRPr lang="en-US"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27E0B8E-5C60-E29C-82F8-C0F0DF24111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794F2EDA-AEED-08CD-0948-07AEED3DFE7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DC49636-600F-D0F8-54BC-85F32180DDD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689764B-3F9E-723A-5169-0D516E3C0913}"/>
              </a:ext>
            </a:extLst>
          </p:cNvPr>
          <p:cNvSpPr txBox="1"/>
          <p:nvPr/>
        </p:nvSpPr>
        <p:spPr>
          <a:xfrm>
            <a:off x="1139327" y="1559187"/>
            <a:ext cx="15971815" cy="954107"/>
          </a:xfrm>
          <a:prstGeom prst="rect">
            <a:avLst/>
          </a:prstGeom>
          <a:noFill/>
        </p:spPr>
        <p:txBody>
          <a:bodyPr wrap="square" rtlCol="0">
            <a:spAutoFit/>
          </a:bodyPr>
          <a:lstStyle/>
          <a:p>
            <a:r>
              <a:rPr lang="en-MY" sz="2800" dirty="0"/>
              <a:t>Greedy Best-First Search(GBFS) prioritises </a:t>
            </a:r>
            <a:r>
              <a:rPr lang="en-MY" sz="2800" i="1" dirty="0"/>
              <a:t>h(n)</a:t>
            </a:r>
            <a:r>
              <a:rPr lang="en-MY" sz="2800" dirty="0"/>
              <a:t> alone, ignoring the cost already paid. It finds routes in two or three expansions on the airline graph, but need not find cheap ones.</a:t>
            </a:r>
            <a:endParaRPr lang="en-MY" sz="2600" dirty="0"/>
          </a:p>
        </p:txBody>
      </p:sp>
      <p:sp>
        <p:nvSpPr>
          <p:cNvPr id="15" name="TextBox 14">
            <a:extLst>
              <a:ext uri="{FF2B5EF4-FFF2-40B4-BE49-F238E27FC236}">
                <a16:creationId xmlns:a16="http://schemas.microsoft.com/office/drawing/2014/main" id="{B2BFF0A2-A710-4B0F-704B-185F586CD608}"/>
              </a:ext>
            </a:extLst>
          </p:cNvPr>
          <p:cNvSpPr txBox="1"/>
          <p:nvPr/>
        </p:nvSpPr>
        <p:spPr>
          <a:xfrm>
            <a:off x="1139327" y="2815180"/>
            <a:ext cx="15932646" cy="1815882"/>
          </a:xfrm>
          <a:prstGeom prst="rect">
            <a:avLst/>
          </a:prstGeom>
          <a:noFill/>
        </p:spPr>
        <p:txBody>
          <a:bodyPr wrap="square">
            <a:spAutoFit/>
          </a:bodyPr>
          <a:lstStyle/>
          <a:p>
            <a:r>
              <a:rPr lang="en-MY" sz="2800" dirty="0">
                <a:solidFill>
                  <a:schemeClr val="accent1"/>
                </a:solidFill>
              </a:rPr>
              <a:t>Worked example:</a:t>
            </a:r>
            <a:br>
              <a:rPr lang="en-MY" sz="2800" dirty="0"/>
            </a:br>
            <a:r>
              <a:rPr lang="en-MY" sz="2800" dirty="0"/>
              <a:t>GBFS expands two airports for KUL-&gt; LHR-&gt; KEF: 12,500 km, 9% above the optimum. London looks close to Iceland, but the first leg alone exceeds the optimal route through Phuket, St Peters burg and Helsinki. Its NRT→CPT route is 6.7% too long; its SIN→EZE route happens to be optimal.</a:t>
            </a:r>
          </a:p>
        </p:txBody>
      </p:sp>
      <p:sp>
        <p:nvSpPr>
          <p:cNvPr id="19" name="TextBox 18">
            <a:extLst>
              <a:ext uri="{FF2B5EF4-FFF2-40B4-BE49-F238E27FC236}">
                <a16:creationId xmlns:a16="http://schemas.microsoft.com/office/drawing/2014/main" id="{B3DED988-6AAA-8719-ABA5-50B8115B5463}"/>
              </a:ext>
            </a:extLst>
          </p:cNvPr>
          <p:cNvSpPr txBox="1"/>
          <p:nvPr/>
        </p:nvSpPr>
        <p:spPr>
          <a:xfrm>
            <a:off x="1158911" y="5046761"/>
            <a:ext cx="15932645" cy="1384995"/>
          </a:xfrm>
          <a:prstGeom prst="rect">
            <a:avLst/>
          </a:prstGeom>
          <a:noFill/>
        </p:spPr>
        <p:txBody>
          <a:bodyPr wrap="square">
            <a:spAutoFit/>
          </a:bodyPr>
          <a:lstStyle/>
          <a:p>
            <a:r>
              <a:rPr lang="en-MY" sz="2800" dirty="0">
                <a:solidFill>
                  <a:srgbClr val="FF0000"/>
                </a:solidFill>
              </a:rPr>
              <a:t>Common mistake</a:t>
            </a:r>
          </a:p>
          <a:p>
            <a:r>
              <a:rPr lang="en-MY" sz="2800" dirty="0"/>
              <a:t>Because GBFS ignores </a:t>
            </a:r>
            <a:r>
              <a:rPr lang="en-MY" sz="2800" i="1" dirty="0"/>
              <a:t>g</a:t>
            </a:r>
            <a:r>
              <a:rPr lang="en-MY" sz="2800" dirty="0"/>
              <a:t>, a small </a:t>
            </a:r>
            <a:r>
              <a:rPr lang="en-MY" sz="2800" i="1" dirty="0"/>
              <a:t>h</a:t>
            </a:r>
            <a:r>
              <a:rPr lang="en-MY" sz="2800" dirty="0"/>
              <a:t> can conceal an expensive path. Route quality depends on the graph around the goal.</a:t>
            </a:r>
          </a:p>
        </p:txBody>
      </p:sp>
    </p:spTree>
    <p:extLst>
      <p:ext uri="{BB962C8B-B14F-4D97-AF65-F5344CB8AC3E}">
        <p14:creationId xmlns:p14="http://schemas.microsoft.com/office/powerpoint/2010/main" val="2593028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2CC04-7429-684F-0B19-26E406272AC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A868623-79D7-FF72-D24C-1CFE8FEAF1A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5F8BDC5-A490-E055-4491-2527E50A937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742BA93-8E2F-830F-D76F-B869679EA18C}"/>
              </a:ext>
            </a:extLst>
          </p:cNvPr>
          <p:cNvSpPr txBox="1"/>
          <p:nvPr/>
        </p:nvSpPr>
        <p:spPr>
          <a:xfrm>
            <a:off x="990600" y="357187"/>
            <a:ext cx="7210425"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A*search</a:t>
            </a:r>
            <a:endParaRPr lang="en-US"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BA38A89-BD39-25D1-5D60-AA661A6FA97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FC97FC2C-EE62-038D-FE71-32BDD466610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7538CE1-E22E-F49B-A30E-EE53582A758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0D3D43A-BA31-2107-3A9E-E1A6B78F2B83}"/>
              </a:ext>
            </a:extLst>
          </p:cNvPr>
          <p:cNvSpPr txBox="1"/>
          <p:nvPr/>
        </p:nvSpPr>
        <p:spPr>
          <a:xfrm>
            <a:off x="1139327" y="1559187"/>
            <a:ext cx="15971815" cy="954107"/>
          </a:xfrm>
          <a:prstGeom prst="rect">
            <a:avLst/>
          </a:prstGeom>
          <a:noFill/>
        </p:spPr>
        <p:txBody>
          <a:bodyPr wrap="square" rtlCol="0">
            <a:spAutoFit/>
          </a:bodyPr>
          <a:lstStyle/>
          <a:p>
            <a:r>
              <a:rPr lang="en-MY" sz="2800" b="1" dirty="0"/>
              <a:t>A⋆ </a:t>
            </a:r>
            <a:r>
              <a:rPr lang="en-MY" sz="2800" dirty="0"/>
              <a:t>prioritises </a:t>
            </a:r>
            <a:r>
              <a:rPr lang="en-MY" sz="2800" i="1" dirty="0"/>
              <a:t>f(n) = g(n) + h(n)</a:t>
            </a:r>
            <a:r>
              <a:rPr lang="en-MY" sz="2800" dirty="0"/>
              <a:t>, balancing cost so far against estimated cost ahead. With a consistent </a:t>
            </a:r>
            <a:r>
              <a:rPr lang="en-MY" sz="2800" i="1" dirty="0"/>
              <a:t>h</a:t>
            </a:r>
            <a:r>
              <a:rPr lang="en-MY" sz="2800" dirty="0"/>
              <a:t>, this closed-set implementation returns the cheapest path, usually with far fewer expansions than UCS.</a:t>
            </a:r>
            <a:endParaRPr lang="en-MY" sz="2600" dirty="0"/>
          </a:p>
        </p:txBody>
      </p:sp>
      <p:sp>
        <p:nvSpPr>
          <p:cNvPr id="15" name="TextBox 14">
            <a:extLst>
              <a:ext uri="{FF2B5EF4-FFF2-40B4-BE49-F238E27FC236}">
                <a16:creationId xmlns:a16="http://schemas.microsoft.com/office/drawing/2014/main" id="{8F37B679-7F47-C087-B2CA-6086E7BA8086}"/>
              </a:ext>
            </a:extLst>
          </p:cNvPr>
          <p:cNvSpPr txBox="1"/>
          <p:nvPr/>
        </p:nvSpPr>
        <p:spPr>
          <a:xfrm>
            <a:off x="1139327" y="2815180"/>
            <a:ext cx="15932646" cy="1384995"/>
          </a:xfrm>
          <a:prstGeom prst="rect">
            <a:avLst/>
          </a:prstGeom>
          <a:noFill/>
        </p:spPr>
        <p:txBody>
          <a:bodyPr wrap="square">
            <a:spAutoFit/>
          </a:bodyPr>
          <a:lstStyle/>
          <a:p>
            <a:r>
              <a:rPr lang="en-MY" sz="2800" dirty="0">
                <a:solidFill>
                  <a:schemeClr val="accent1"/>
                </a:solidFill>
              </a:rPr>
              <a:t>Worked example:</a:t>
            </a:r>
            <a:br>
              <a:rPr lang="en-MY" sz="2800" dirty="0"/>
            </a:br>
            <a:r>
              <a:rPr lang="en-MY" sz="2800" dirty="0"/>
              <a:t>Suppose frontier state X has (</a:t>
            </a:r>
            <a:r>
              <a:rPr lang="en-MY" sz="2800" dirty="0" err="1"/>
              <a:t>g,h</a:t>
            </a:r>
            <a:r>
              <a:rPr lang="en-MY" sz="2800" dirty="0"/>
              <a:t>) = (5,3)</a:t>
            </a:r>
            <a:r>
              <a:rPr lang="en-MY" sz="2800" dirty="0" err="1"/>
              <a:t>andY</a:t>
            </a:r>
            <a:r>
              <a:rPr lang="en-MY" sz="2800" dirty="0"/>
              <a:t> has(1,5). </a:t>
            </a:r>
            <a:r>
              <a:rPr lang="en-MY" sz="2800" dirty="0" err="1"/>
              <a:t>GBFSchoosesX</a:t>
            </a:r>
            <a:r>
              <a:rPr lang="en-MY" sz="2800" dirty="0"/>
              <a:t> because3 &lt; 5. A⋆ chooses Y because f(Y ) = 6 &lt; f(X) = 8:thecheaperpathsofarisworththeextraestimated distance.</a:t>
            </a:r>
          </a:p>
        </p:txBody>
      </p:sp>
      <p:sp>
        <p:nvSpPr>
          <p:cNvPr id="19" name="TextBox 18">
            <a:extLst>
              <a:ext uri="{FF2B5EF4-FFF2-40B4-BE49-F238E27FC236}">
                <a16:creationId xmlns:a16="http://schemas.microsoft.com/office/drawing/2014/main" id="{9EE567F3-DC25-7715-6668-869044D331FF}"/>
              </a:ext>
            </a:extLst>
          </p:cNvPr>
          <p:cNvSpPr txBox="1"/>
          <p:nvPr/>
        </p:nvSpPr>
        <p:spPr>
          <a:xfrm>
            <a:off x="1158911" y="5111262"/>
            <a:ext cx="15932645" cy="954107"/>
          </a:xfrm>
          <a:prstGeom prst="rect">
            <a:avLst/>
          </a:prstGeom>
          <a:noFill/>
        </p:spPr>
        <p:txBody>
          <a:bodyPr wrap="square">
            <a:spAutoFit/>
          </a:bodyPr>
          <a:lstStyle/>
          <a:p>
            <a:r>
              <a:rPr lang="en-MY" sz="2800" dirty="0"/>
              <a:t>Implementation is one line away from UCS. In utils/core.py the three algorithms share </a:t>
            </a:r>
            <a:r>
              <a:rPr lang="en-MY" sz="2800" dirty="0" err="1"/>
              <a:t>best_first</a:t>
            </a:r>
            <a:r>
              <a:rPr lang="en-MY" sz="2800" dirty="0"/>
              <a:t>; only the priority differs:</a:t>
            </a:r>
          </a:p>
        </p:txBody>
      </p:sp>
      <p:sp>
        <p:nvSpPr>
          <p:cNvPr id="7" name="TextBox 6">
            <a:extLst>
              <a:ext uri="{FF2B5EF4-FFF2-40B4-BE49-F238E27FC236}">
                <a16:creationId xmlns:a16="http://schemas.microsoft.com/office/drawing/2014/main" id="{C9A5F98B-B7A6-7E74-1145-BA1F5B0E8E34}"/>
              </a:ext>
            </a:extLst>
          </p:cNvPr>
          <p:cNvSpPr txBox="1"/>
          <p:nvPr/>
        </p:nvSpPr>
        <p:spPr>
          <a:xfrm>
            <a:off x="1139326" y="6328456"/>
            <a:ext cx="15932645" cy="1938992"/>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MY" sz="2000" dirty="0">
                <a:latin typeface="Cascadia Code" panose="020B0609020000020004" pitchFamily="49" charset="0"/>
                <a:cs typeface="Cascadia Code" panose="020B0609020000020004" pitchFamily="49" charset="0"/>
              </a:rPr>
              <a:t>def priority(state, g): </a:t>
            </a:r>
          </a:p>
          <a:p>
            <a:r>
              <a:rPr lang="en-MY" sz="2000" dirty="0">
                <a:latin typeface="Cascadia Code" panose="020B0609020000020004" pitchFamily="49" charset="0"/>
                <a:cs typeface="Cascadia Code" panose="020B0609020000020004" pitchFamily="49" charset="0"/>
              </a:rPr>
              <a:t>	if mode == "</a:t>
            </a:r>
            <a:r>
              <a:rPr lang="en-MY" sz="2000" dirty="0" err="1">
                <a:latin typeface="Cascadia Code" panose="020B0609020000020004" pitchFamily="49" charset="0"/>
                <a:cs typeface="Cascadia Code" panose="020B0609020000020004" pitchFamily="49" charset="0"/>
              </a:rPr>
              <a:t>ucs</a:t>
            </a:r>
            <a:r>
              <a:rPr lang="en-MY" sz="2000" dirty="0">
                <a:latin typeface="Cascadia Code" panose="020B0609020000020004" pitchFamily="49" charset="0"/>
                <a:cs typeface="Cascadia Code" panose="020B0609020000020004" pitchFamily="49" charset="0"/>
              </a:rPr>
              <a:t>": </a:t>
            </a:r>
          </a:p>
          <a:p>
            <a:r>
              <a:rPr lang="en-MY" sz="2000" dirty="0">
                <a:latin typeface="Cascadia Code" panose="020B0609020000020004" pitchFamily="49" charset="0"/>
                <a:cs typeface="Cascadia Code" panose="020B0609020000020004" pitchFamily="49" charset="0"/>
              </a:rPr>
              <a:t>		return g </a:t>
            </a:r>
          </a:p>
          <a:p>
            <a:r>
              <a:rPr lang="en-MY" sz="2000" dirty="0">
                <a:latin typeface="Cascadia Code" panose="020B0609020000020004" pitchFamily="49" charset="0"/>
                <a:cs typeface="Cascadia Code" panose="020B0609020000020004" pitchFamily="49" charset="0"/>
              </a:rPr>
              <a:t>	if mode == "</a:t>
            </a:r>
            <a:r>
              <a:rPr lang="en-MY" sz="2000" dirty="0" err="1">
                <a:latin typeface="Cascadia Code" panose="020B0609020000020004" pitchFamily="49" charset="0"/>
                <a:cs typeface="Cascadia Code" panose="020B0609020000020004" pitchFamily="49" charset="0"/>
              </a:rPr>
              <a:t>gbfs</a:t>
            </a:r>
            <a:r>
              <a:rPr lang="en-MY" sz="2000" dirty="0">
                <a:latin typeface="Cascadia Code" panose="020B0609020000020004" pitchFamily="49" charset="0"/>
                <a:cs typeface="Cascadia Code" panose="020B0609020000020004" pitchFamily="49" charset="0"/>
              </a:rPr>
              <a:t>": </a:t>
            </a:r>
          </a:p>
          <a:p>
            <a:r>
              <a:rPr lang="en-MY" sz="2000" dirty="0">
                <a:latin typeface="Cascadia Code" panose="020B0609020000020004" pitchFamily="49" charset="0"/>
                <a:cs typeface="Cascadia Code" panose="020B0609020000020004" pitchFamily="49" charset="0"/>
              </a:rPr>
              <a:t>		return h(state) </a:t>
            </a:r>
          </a:p>
          <a:p>
            <a:r>
              <a:rPr lang="en-MY" sz="2000" dirty="0">
                <a:latin typeface="Cascadia Code" panose="020B0609020000020004" pitchFamily="49" charset="0"/>
                <a:cs typeface="Cascadia Code" panose="020B0609020000020004" pitchFamily="49" charset="0"/>
              </a:rPr>
              <a:t>	return g + h(state) # </a:t>
            </a:r>
            <a:r>
              <a:rPr lang="en-MY" sz="2000" dirty="0" err="1">
                <a:latin typeface="Cascadia Code" panose="020B0609020000020004" pitchFamily="49" charset="0"/>
                <a:cs typeface="Cascadia Code" panose="020B0609020000020004" pitchFamily="49" charset="0"/>
              </a:rPr>
              <a:t>astar</a:t>
            </a:r>
            <a:endParaRPr lang="en-MY" sz="2000" dirty="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94722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0D4A-F011-4D35-545E-607D05312CA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7AB0796-8C62-6F2A-31FB-E2E009603D8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7A92C22-23F3-D8A7-61F5-74D73067D04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356ED37-2867-DC5A-D71E-43A137A9E620}"/>
              </a:ext>
            </a:extLst>
          </p:cNvPr>
          <p:cNvSpPr txBox="1"/>
          <p:nvPr/>
        </p:nvSpPr>
        <p:spPr>
          <a:xfrm>
            <a:off x="990600" y="357187"/>
            <a:ext cx="7210425"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Admissibility and consistency</a:t>
            </a:r>
            <a:endParaRPr lang="en-US"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2B7B09C-A1EE-4CD3-C6A3-E89FE7E807E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C6B0EE58-8C52-0467-DEAE-DADD7E427A2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9EC21DB-28B9-3898-8A97-C786959634B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FE5B8A7-F2E0-33E1-A967-59D95829C555}"/>
              </a:ext>
            </a:extLst>
          </p:cNvPr>
          <p:cNvSpPr txBox="1"/>
          <p:nvPr/>
        </p:nvSpPr>
        <p:spPr>
          <a:xfrm>
            <a:off x="506777" y="1485288"/>
            <a:ext cx="17296480" cy="461665"/>
          </a:xfrm>
          <a:prstGeom prst="rect">
            <a:avLst/>
          </a:prstGeom>
          <a:noFill/>
        </p:spPr>
        <p:txBody>
          <a:bodyPr wrap="square" rtlCol="0">
            <a:spAutoFit/>
          </a:bodyPr>
          <a:lstStyle/>
          <a:p>
            <a:r>
              <a:rPr lang="en-MY" sz="2400" dirty="0"/>
              <a:t>The optimality guarantee rests on one condition. A heuristic is admissible when it never overestimates the cheapest remaining cost:</a:t>
            </a:r>
          </a:p>
        </p:txBody>
      </p:sp>
      <p:sp>
        <p:nvSpPr>
          <p:cNvPr id="15" name="TextBox 14">
            <a:extLst>
              <a:ext uri="{FF2B5EF4-FFF2-40B4-BE49-F238E27FC236}">
                <a16:creationId xmlns:a16="http://schemas.microsoft.com/office/drawing/2014/main" id="{6BD4A274-E9A5-5D67-B5B5-DFBEB30BA154}"/>
              </a:ext>
            </a:extLst>
          </p:cNvPr>
          <p:cNvSpPr txBox="1"/>
          <p:nvPr/>
        </p:nvSpPr>
        <p:spPr>
          <a:xfrm>
            <a:off x="5812659" y="2057591"/>
            <a:ext cx="5248275" cy="523220"/>
          </a:xfrm>
          <a:prstGeom prst="rect">
            <a:avLst/>
          </a:prstGeom>
          <a:noFill/>
        </p:spPr>
        <p:txBody>
          <a:bodyPr wrap="square">
            <a:spAutoFit/>
          </a:bodyPr>
          <a:lstStyle/>
          <a:p>
            <a:r>
              <a:rPr lang="en-MY" sz="2800" i="1" dirty="0"/>
              <a:t>h(n) ≤ h⋆(n)      </a:t>
            </a:r>
            <a:r>
              <a:rPr lang="en-MY" sz="2800" dirty="0"/>
              <a:t>for every state </a:t>
            </a:r>
            <a:r>
              <a:rPr lang="en-MY" sz="2800" i="1" dirty="0"/>
              <a:t>n</a:t>
            </a:r>
            <a:r>
              <a:rPr lang="en-MY" sz="2800" dirty="0"/>
              <a:t>,</a:t>
            </a:r>
          </a:p>
        </p:txBody>
      </p:sp>
      <p:sp>
        <p:nvSpPr>
          <p:cNvPr id="19" name="TextBox 18">
            <a:extLst>
              <a:ext uri="{FF2B5EF4-FFF2-40B4-BE49-F238E27FC236}">
                <a16:creationId xmlns:a16="http://schemas.microsoft.com/office/drawing/2014/main" id="{9A4389F1-6C0F-DAA8-F0F4-06772E5B746B}"/>
              </a:ext>
            </a:extLst>
          </p:cNvPr>
          <p:cNvSpPr txBox="1"/>
          <p:nvPr/>
        </p:nvSpPr>
        <p:spPr>
          <a:xfrm>
            <a:off x="506777" y="2691449"/>
            <a:ext cx="17296481" cy="2308324"/>
          </a:xfrm>
          <a:prstGeom prst="rect">
            <a:avLst/>
          </a:prstGeom>
          <a:noFill/>
        </p:spPr>
        <p:txBody>
          <a:bodyPr wrap="square">
            <a:spAutoFit/>
          </a:bodyPr>
          <a:lstStyle/>
          <a:p>
            <a:r>
              <a:rPr lang="en-MY" sz="2400" dirty="0"/>
              <a:t>where </a:t>
            </a:r>
            <a:r>
              <a:rPr lang="en-MY" sz="2400" i="1" dirty="0"/>
              <a:t>h⋆(n) </a:t>
            </a:r>
            <a:r>
              <a:rPr lang="en-MY" sz="2400" dirty="0"/>
              <a:t>is the true cost of the cheapest path from </a:t>
            </a:r>
            <a:r>
              <a:rPr lang="en-MY" sz="2400" i="1" dirty="0"/>
              <a:t>n</a:t>
            </a:r>
            <a:r>
              <a:rPr lang="en-MY" sz="2400" dirty="0"/>
              <a:t> to the goal. A stronger and more convenient condition is consistency: for every edge </a:t>
            </a:r>
            <a:r>
              <a:rPr lang="en-MY" sz="2400" i="1" dirty="0"/>
              <a:t>n → n′ </a:t>
            </a:r>
            <a:r>
              <a:rPr lang="en-MY" sz="2400" dirty="0"/>
              <a:t>of cost </a:t>
            </a:r>
            <a:r>
              <a:rPr lang="en-MY" sz="2400" i="1" dirty="0"/>
              <a:t>c, h(n) ≤ c + h(n′). </a:t>
            </a:r>
            <a:r>
              <a:rPr lang="en-MY" sz="2400" dirty="0"/>
              <a:t>Consistency implies admissibility and guarantees that the first time A⋆ pops a state, it has found the cheapest path to it—which is what allows the closed-set implementation in </a:t>
            </a:r>
            <a:r>
              <a:rPr lang="en-MY" sz="2400" i="1" dirty="0"/>
              <a:t>utils</a:t>
            </a:r>
            <a:r>
              <a:rPr lang="en-MY" sz="2400" dirty="0"/>
              <a:t> to skip re-expansions.</a:t>
            </a:r>
          </a:p>
          <a:p>
            <a:endParaRPr lang="en-MY" sz="2400" dirty="0"/>
          </a:p>
          <a:p>
            <a:r>
              <a:rPr lang="en-MY" sz="2400" dirty="0"/>
              <a:t>Haversine is consistent by the triangle inequality on a sphere. Lab 2 also runs Dijkstra backwards from each goal to obtain h⋆, samples ten airports across the range, and checks h ≤ h⋆. In Figure2.2, every sampled point must lie on or below the diagonal.</a:t>
            </a:r>
          </a:p>
        </p:txBody>
      </p:sp>
      <p:pic>
        <p:nvPicPr>
          <p:cNvPr id="7" name="Picture 6">
            <a:extLst>
              <a:ext uri="{FF2B5EF4-FFF2-40B4-BE49-F238E27FC236}">
                <a16:creationId xmlns:a16="http://schemas.microsoft.com/office/drawing/2014/main" id="{59762A74-2949-1C17-643D-5E21F8AF5D56}"/>
              </a:ext>
            </a:extLst>
          </p:cNvPr>
          <p:cNvPicPr>
            <a:picLocks noChangeAspect="1"/>
          </p:cNvPicPr>
          <p:nvPr/>
        </p:nvPicPr>
        <p:blipFill>
          <a:blip r:embed="rId3"/>
          <a:stretch>
            <a:fillRect/>
          </a:stretch>
        </p:blipFill>
        <p:spPr>
          <a:xfrm>
            <a:off x="3293671" y="5110411"/>
            <a:ext cx="10286250" cy="4473945"/>
          </a:xfrm>
          <a:prstGeom prst="rect">
            <a:avLst/>
          </a:prstGeom>
        </p:spPr>
      </p:pic>
    </p:spTree>
    <p:extLst>
      <p:ext uri="{BB962C8B-B14F-4D97-AF65-F5344CB8AC3E}">
        <p14:creationId xmlns:p14="http://schemas.microsoft.com/office/powerpoint/2010/main" val="1468494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A4A63-49B6-FF3B-8FF9-EA2F6D2774C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EDBC4C2-3B8B-4229-A3A4-7372A90693CB}"/>
              </a:ext>
            </a:extLst>
          </p:cNvPr>
          <p:cNvSpPr/>
          <p:nvPr/>
        </p:nvSpPr>
        <p:spPr>
          <a:xfrm>
            <a:off x="756447" y="10287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760C73F-8CF2-9AC5-7CD0-136A60BD663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D6BE34D-89E9-671D-E4DC-D1C2D12A8B36}"/>
              </a:ext>
            </a:extLst>
          </p:cNvPr>
          <p:cNvSpPr txBox="1"/>
          <p:nvPr/>
        </p:nvSpPr>
        <p:spPr>
          <a:xfrm>
            <a:off x="990600" y="357187"/>
            <a:ext cx="12289971" cy="553998"/>
          </a:xfrm>
          <a:prstGeom prst="rect">
            <a:avLst/>
          </a:prstGeom>
        </p:spPr>
        <p:txBody>
          <a:bodyPr wrap="square" lIns="0" tIns="0" rIns="0" bIns="0" rtlCol="0" anchor="t">
            <a:spAutoFit/>
          </a:bodyPr>
          <a:lstStyle/>
          <a:p>
            <a:pPr lvl="0">
              <a:defRPr/>
            </a:pPr>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Weighted A*: trading the guarantee for speed</a:t>
            </a:r>
            <a:endParaRPr lang="en-US"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12741A2-EDF8-64DB-3BB4-3315E68B36B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A981EF66-A891-BD7F-2244-1215A25081F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BB341F2-F1F6-DD24-7D79-72042EA5CD3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51B5E6A-9A91-7CFB-35F4-A48D8058473A}"/>
              </a:ext>
            </a:extLst>
          </p:cNvPr>
          <p:cNvSpPr txBox="1"/>
          <p:nvPr/>
        </p:nvSpPr>
        <p:spPr>
          <a:xfrm>
            <a:off x="1241571" y="1493885"/>
            <a:ext cx="15804857" cy="1200329"/>
          </a:xfrm>
          <a:prstGeom prst="rect">
            <a:avLst/>
          </a:prstGeom>
          <a:noFill/>
        </p:spPr>
        <p:txBody>
          <a:bodyPr wrap="square" rtlCol="0">
            <a:spAutoFit/>
          </a:bodyPr>
          <a:lstStyle/>
          <a:p>
            <a:r>
              <a:rPr lang="en-MY" sz="2400" dirty="0"/>
              <a:t>Weighted A⋆ uses </a:t>
            </a:r>
            <a:r>
              <a:rPr lang="en-MY" sz="2400" i="1" dirty="0"/>
              <a:t>g + </a:t>
            </a:r>
            <a:r>
              <a:rPr lang="en-MY" sz="2400" i="1" dirty="0" err="1"/>
              <a:t>wh</a:t>
            </a:r>
            <a:r>
              <a:rPr lang="en-MY" sz="2400" i="1" dirty="0"/>
              <a:t> </a:t>
            </a:r>
            <a:r>
              <a:rPr lang="en-MY" sz="2400" dirty="0"/>
              <a:t>with </a:t>
            </a:r>
            <a:r>
              <a:rPr lang="en-MY" sz="2400" i="1" dirty="0"/>
              <a:t>w &gt; 1</a:t>
            </a:r>
            <a:r>
              <a:rPr lang="en-MY" sz="2400" dirty="0"/>
              <a:t>, trading the optimality guarantee for more goal-directed search. At </a:t>
            </a:r>
            <a:r>
              <a:rPr lang="en-MY" sz="2400" i="1" dirty="0"/>
              <a:t>w =1.5</a:t>
            </a:r>
            <a:r>
              <a:rPr lang="en-MY" sz="2400" dirty="0"/>
              <a:t>, Lab2 uses two, three and four expansions, with routes 7.1%, 0% and 0.8% above optimum. Inflating </a:t>
            </a:r>
            <a:r>
              <a:rPr lang="en-MY" sz="2400" i="1" dirty="0"/>
              <a:t>h</a:t>
            </a:r>
            <a:r>
              <a:rPr lang="en-MY" sz="2400" dirty="0"/>
              <a:t> can discourage useful detours away from the goal.</a:t>
            </a:r>
          </a:p>
        </p:txBody>
      </p:sp>
      <p:sp>
        <p:nvSpPr>
          <p:cNvPr id="8" name="TextBox 7">
            <a:extLst>
              <a:ext uri="{FF2B5EF4-FFF2-40B4-BE49-F238E27FC236}">
                <a16:creationId xmlns:a16="http://schemas.microsoft.com/office/drawing/2014/main" id="{B3F3128D-7025-675B-30D1-7A87E5840041}"/>
              </a:ext>
            </a:extLst>
          </p:cNvPr>
          <p:cNvSpPr txBox="1"/>
          <p:nvPr/>
        </p:nvSpPr>
        <p:spPr>
          <a:xfrm>
            <a:off x="849086" y="3159398"/>
            <a:ext cx="9144000"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UCS, GBFS and A* side by side</a:t>
            </a:r>
          </a:p>
        </p:txBody>
      </p:sp>
      <p:sp>
        <p:nvSpPr>
          <p:cNvPr id="13" name="AutoShape 2">
            <a:extLst>
              <a:ext uri="{FF2B5EF4-FFF2-40B4-BE49-F238E27FC236}">
                <a16:creationId xmlns:a16="http://schemas.microsoft.com/office/drawing/2014/main" id="{BABEE049-57F7-A864-2664-FBD97B494AE8}"/>
              </a:ext>
            </a:extLst>
          </p:cNvPr>
          <p:cNvSpPr/>
          <p:nvPr/>
        </p:nvSpPr>
        <p:spPr>
          <a:xfrm>
            <a:off x="849086" y="398961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2BBF8147-D8E0-1E7E-0BC5-E48F895FA172}"/>
              </a:ext>
            </a:extLst>
          </p:cNvPr>
          <p:cNvPicPr>
            <a:picLocks noChangeAspect="1"/>
          </p:cNvPicPr>
          <p:nvPr/>
        </p:nvPicPr>
        <p:blipFill>
          <a:blip r:embed="rId3"/>
          <a:stretch>
            <a:fillRect/>
          </a:stretch>
        </p:blipFill>
        <p:spPr>
          <a:xfrm>
            <a:off x="1351784" y="4526130"/>
            <a:ext cx="15091573" cy="4411039"/>
          </a:xfrm>
          <a:prstGeom prst="rect">
            <a:avLst/>
          </a:prstGeom>
        </p:spPr>
      </p:pic>
      <p:sp>
        <p:nvSpPr>
          <p:cNvPr id="21" name="AutoShape 2">
            <a:extLst>
              <a:ext uri="{FF2B5EF4-FFF2-40B4-BE49-F238E27FC236}">
                <a16:creationId xmlns:a16="http://schemas.microsoft.com/office/drawing/2014/main" id="{D3146CAA-D8C4-DB51-F078-8F167E435896}"/>
              </a:ext>
            </a:extLst>
          </p:cNvPr>
          <p:cNvSpPr/>
          <p:nvPr/>
        </p:nvSpPr>
        <p:spPr>
          <a:xfrm>
            <a:off x="849086" y="3064328"/>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0967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75C9E-DBF3-38F5-23C0-22E24F9F59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ED2DE0-1509-EB7E-34AD-167BD23845A9}"/>
              </a:ext>
            </a:extLst>
          </p:cNvPr>
          <p:cNvSpPr/>
          <p:nvPr/>
        </p:nvSpPr>
        <p:spPr>
          <a:xfrm>
            <a:off x="756447" y="10287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40D34A8-D37D-847E-707F-D302B3360F7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9F76019-BCCF-D1AE-565C-A0974C82A3C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C951AE04-E2A5-1DBB-9736-E78B9E2D8FA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8ECAC16-9253-A760-51EF-E0DD5D78D10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DEA158A-E05E-490E-59B6-0CCE63289702}"/>
              </a:ext>
            </a:extLst>
          </p:cNvPr>
          <p:cNvSpPr txBox="1"/>
          <p:nvPr/>
        </p:nvSpPr>
        <p:spPr>
          <a:xfrm>
            <a:off x="1241571" y="1493885"/>
            <a:ext cx="15804857" cy="461665"/>
          </a:xfrm>
          <a:prstGeom prst="rect">
            <a:avLst/>
          </a:prstGeom>
          <a:noFill/>
        </p:spPr>
        <p:txBody>
          <a:bodyPr wrap="square" rtlCol="0">
            <a:spAutoFit/>
          </a:bodyPr>
          <a:lstStyle/>
          <a:p>
            <a:r>
              <a:rPr lang="en-MY" sz="2400" dirty="0"/>
              <a:t>Figure 2.3 visualises these expansion patterns on a shared grid.</a:t>
            </a:r>
          </a:p>
        </p:txBody>
      </p:sp>
      <p:sp>
        <p:nvSpPr>
          <p:cNvPr id="8" name="TextBox 7">
            <a:extLst>
              <a:ext uri="{FF2B5EF4-FFF2-40B4-BE49-F238E27FC236}">
                <a16:creationId xmlns:a16="http://schemas.microsoft.com/office/drawing/2014/main" id="{4E7DDC13-DDC1-87A7-1861-A623D0D5A778}"/>
              </a:ext>
            </a:extLst>
          </p:cNvPr>
          <p:cNvSpPr txBox="1"/>
          <p:nvPr/>
        </p:nvSpPr>
        <p:spPr>
          <a:xfrm>
            <a:off x="990600" y="242893"/>
            <a:ext cx="9144000"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UCS, GBFS and A* side by side</a:t>
            </a:r>
          </a:p>
        </p:txBody>
      </p:sp>
      <p:pic>
        <p:nvPicPr>
          <p:cNvPr id="14" name="Picture 13">
            <a:extLst>
              <a:ext uri="{FF2B5EF4-FFF2-40B4-BE49-F238E27FC236}">
                <a16:creationId xmlns:a16="http://schemas.microsoft.com/office/drawing/2014/main" id="{6600D59B-C7D3-3E10-9297-D64754BF86E7}"/>
              </a:ext>
            </a:extLst>
          </p:cNvPr>
          <p:cNvPicPr>
            <a:picLocks noChangeAspect="1"/>
          </p:cNvPicPr>
          <p:nvPr/>
        </p:nvPicPr>
        <p:blipFill>
          <a:blip r:embed="rId3"/>
          <a:stretch>
            <a:fillRect/>
          </a:stretch>
        </p:blipFill>
        <p:spPr>
          <a:xfrm>
            <a:off x="1933422" y="2749920"/>
            <a:ext cx="13354361" cy="5011591"/>
          </a:xfrm>
          <a:prstGeom prst="rect">
            <a:avLst/>
          </a:prstGeom>
        </p:spPr>
      </p:pic>
    </p:spTree>
    <p:extLst>
      <p:ext uri="{BB962C8B-B14F-4D97-AF65-F5344CB8AC3E}">
        <p14:creationId xmlns:p14="http://schemas.microsoft.com/office/powerpoint/2010/main" val="292604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69E0-5DB0-35DD-DEA2-22F907FE83F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969C471-02D1-4E14-6B99-42D63D3DA269}"/>
              </a:ext>
            </a:extLst>
          </p:cNvPr>
          <p:cNvSpPr/>
          <p:nvPr/>
        </p:nvSpPr>
        <p:spPr>
          <a:xfrm>
            <a:off x="756447" y="10287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35A8DDC-3D41-ABA1-B96E-A8F23C88B94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B95EE879-3676-2256-1A06-4802F0206F2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B33B8EE9-719E-38F8-B202-BE964C8D3DE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2A6F548-7E09-1E9F-F623-4F03AFA294B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33B5F79-08C8-1C6E-46B9-19A3778EB93D}"/>
              </a:ext>
            </a:extLst>
          </p:cNvPr>
          <p:cNvSpPr txBox="1"/>
          <p:nvPr/>
        </p:nvSpPr>
        <p:spPr>
          <a:xfrm>
            <a:off x="1241571" y="1585240"/>
            <a:ext cx="15804857" cy="584775"/>
          </a:xfrm>
          <a:prstGeom prst="rect">
            <a:avLst/>
          </a:prstGeom>
          <a:noFill/>
        </p:spPr>
        <p:txBody>
          <a:bodyPr wrap="square" rtlCol="0">
            <a:spAutoFit/>
          </a:bodyPr>
          <a:lstStyle/>
          <a:p>
            <a:r>
              <a:rPr lang="en-MY" sz="3200" dirty="0"/>
              <a:t>Setup cell.</a:t>
            </a:r>
          </a:p>
        </p:txBody>
      </p:sp>
      <p:sp>
        <p:nvSpPr>
          <p:cNvPr id="8" name="TextBox 7">
            <a:extLst>
              <a:ext uri="{FF2B5EF4-FFF2-40B4-BE49-F238E27FC236}">
                <a16:creationId xmlns:a16="http://schemas.microsoft.com/office/drawing/2014/main" id="{B044AFD4-51FD-72B6-7274-862C276E2198}"/>
              </a:ext>
            </a:extLst>
          </p:cNvPr>
          <p:cNvSpPr txBox="1"/>
          <p:nvPr/>
        </p:nvSpPr>
        <p:spPr>
          <a:xfrm>
            <a:off x="990600" y="242893"/>
            <a:ext cx="9993086"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pic>
        <p:nvPicPr>
          <p:cNvPr id="17" name="Picture 16">
            <a:extLst>
              <a:ext uri="{FF2B5EF4-FFF2-40B4-BE49-F238E27FC236}">
                <a16:creationId xmlns:a16="http://schemas.microsoft.com/office/drawing/2014/main" id="{15477193-B860-00A3-D283-DB3EA0D63BC0}"/>
              </a:ext>
            </a:extLst>
          </p:cNvPr>
          <p:cNvPicPr>
            <a:picLocks noChangeAspect="1"/>
          </p:cNvPicPr>
          <p:nvPr/>
        </p:nvPicPr>
        <p:blipFill>
          <a:blip r:embed="rId3"/>
          <a:stretch>
            <a:fillRect/>
          </a:stretch>
        </p:blipFill>
        <p:spPr>
          <a:xfrm>
            <a:off x="1241571" y="2567403"/>
            <a:ext cx="14608029" cy="5908729"/>
          </a:xfrm>
          <a:prstGeom prst="rect">
            <a:avLst/>
          </a:prstGeom>
        </p:spPr>
      </p:pic>
    </p:spTree>
    <p:extLst>
      <p:ext uri="{BB962C8B-B14F-4D97-AF65-F5344CB8AC3E}">
        <p14:creationId xmlns:p14="http://schemas.microsoft.com/office/powerpoint/2010/main" val="72608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9C7E-BB40-D904-D50D-4C6E9D64AF9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7C48682-1ECA-766F-67BC-EBECD4355EFA}"/>
              </a:ext>
            </a:extLst>
          </p:cNvPr>
          <p:cNvSpPr/>
          <p:nvPr/>
        </p:nvSpPr>
        <p:spPr>
          <a:xfrm>
            <a:off x="756447" y="10287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B61FDF5-C474-10EB-1951-38D1AFFBB8A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C5F13EC-6FEE-7FCE-C18A-3161C1BC006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F913E20B-E0E1-72C2-0DDC-4627C12576E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EFDB31E-69FE-216F-97E1-EF769126EE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07C7A1D-FDFB-771D-2E17-F13DE3EBB6D8}"/>
              </a:ext>
            </a:extLst>
          </p:cNvPr>
          <p:cNvSpPr txBox="1"/>
          <p:nvPr/>
        </p:nvSpPr>
        <p:spPr>
          <a:xfrm>
            <a:off x="1155087" y="1381856"/>
            <a:ext cx="15804857" cy="1200329"/>
          </a:xfrm>
          <a:prstGeom prst="rect">
            <a:avLst/>
          </a:prstGeom>
          <a:noFill/>
        </p:spPr>
        <p:txBody>
          <a:bodyPr wrap="square" rtlCol="0">
            <a:spAutoFit/>
          </a:bodyPr>
          <a:lstStyle/>
          <a:p>
            <a:r>
              <a:rPr lang="en-MY" sz="2400" b="1" dirty="0"/>
              <a:t>Question 1 - Establish the baseline </a:t>
            </a:r>
          </a:p>
          <a:p>
            <a:r>
              <a:rPr lang="en-MY" sz="2400" dirty="0"/>
              <a:t>Run UCS for the three standard queries. UCS is exact for non-negative costs, so its cost is the reference every informed method is judged against.</a:t>
            </a:r>
          </a:p>
        </p:txBody>
      </p:sp>
      <p:sp>
        <p:nvSpPr>
          <p:cNvPr id="8" name="TextBox 7">
            <a:extLst>
              <a:ext uri="{FF2B5EF4-FFF2-40B4-BE49-F238E27FC236}">
                <a16:creationId xmlns:a16="http://schemas.microsoft.com/office/drawing/2014/main" id="{62B0C45C-2CBB-BCEA-C711-4FE004FFB13B}"/>
              </a:ext>
            </a:extLst>
          </p:cNvPr>
          <p:cNvSpPr txBox="1"/>
          <p:nvPr/>
        </p:nvSpPr>
        <p:spPr>
          <a:xfrm>
            <a:off x="990599" y="242893"/>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pic>
        <p:nvPicPr>
          <p:cNvPr id="7" name="Picture 6">
            <a:extLst>
              <a:ext uri="{FF2B5EF4-FFF2-40B4-BE49-F238E27FC236}">
                <a16:creationId xmlns:a16="http://schemas.microsoft.com/office/drawing/2014/main" id="{861E9BA1-20CF-706B-F4D7-FB87A42EE593}"/>
              </a:ext>
            </a:extLst>
          </p:cNvPr>
          <p:cNvPicPr>
            <a:picLocks noChangeAspect="1"/>
          </p:cNvPicPr>
          <p:nvPr/>
        </p:nvPicPr>
        <p:blipFill>
          <a:blip r:embed="rId3"/>
          <a:srcRect l="1172" t="13983" r="1460" b="37234"/>
          <a:stretch>
            <a:fillRect/>
          </a:stretch>
        </p:blipFill>
        <p:spPr>
          <a:xfrm>
            <a:off x="1155087" y="2935340"/>
            <a:ext cx="11756571" cy="2481943"/>
          </a:xfrm>
          <a:prstGeom prst="rect">
            <a:avLst/>
          </a:prstGeom>
        </p:spPr>
      </p:pic>
      <p:sp>
        <p:nvSpPr>
          <p:cNvPr id="15" name="TextBox 14">
            <a:extLst>
              <a:ext uri="{FF2B5EF4-FFF2-40B4-BE49-F238E27FC236}">
                <a16:creationId xmlns:a16="http://schemas.microsoft.com/office/drawing/2014/main" id="{2CFC7305-A2B7-5111-2975-A1D74FC211EE}"/>
              </a:ext>
            </a:extLst>
          </p:cNvPr>
          <p:cNvSpPr txBox="1"/>
          <p:nvPr/>
        </p:nvSpPr>
        <p:spPr>
          <a:xfrm>
            <a:off x="1155086" y="8198609"/>
            <a:ext cx="15956055" cy="830997"/>
          </a:xfrm>
          <a:prstGeom prst="rect">
            <a:avLst/>
          </a:prstGeom>
          <a:noFill/>
        </p:spPr>
        <p:txBody>
          <a:bodyPr wrap="square">
            <a:spAutoFit/>
          </a:bodyPr>
          <a:lstStyle/>
          <a:p>
            <a:r>
              <a:rPr lang="en-MY" sz="2400" dirty="0"/>
              <a:t>UCS reproduces the Lab 1 distances. These are the optimal costs; an informed method that returns more has traded quality for speed. The small report helper prints every result in the same shape, so the rows below line up with these.</a:t>
            </a:r>
          </a:p>
        </p:txBody>
      </p:sp>
      <p:sp>
        <p:nvSpPr>
          <p:cNvPr id="17" name="TextBox 16">
            <a:extLst>
              <a:ext uri="{FF2B5EF4-FFF2-40B4-BE49-F238E27FC236}">
                <a16:creationId xmlns:a16="http://schemas.microsoft.com/office/drawing/2014/main" id="{B90C7C99-C76E-49B1-03AA-AE697FEF5E3B}"/>
              </a:ext>
            </a:extLst>
          </p:cNvPr>
          <p:cNvSpPr txBox="1"/>
          <p:nvPr/>
        </p:nvSpPr>
        <p:spPr>
          <a:xfrm>
            <a:off x="1156288" y="5770438"/>
            <a:ext cx="9144000" cy="461665"/>
          </a:xfrm>
          <a:prstGeom prst="rect">
            <a:avLst/>
          </a:prstGeom>
          <a:noFill/>
        </p:spPr>
        <p:txBody>
          <a:bodyPr wrap="square">
            <a:spAutoFit/>
          </a:bodyPr>
          <a:lstStyle/>
          <a:p>
            <a:r>
              <a:rPr lang="en-MY" sz="2400" b="1" dirty="0"/>
              <a:t>Reference output.</a:t>
            </a:r>
          </a:p>
        </p:txBody>
      </p:sp>
      <p:pic>
        <p:nvPicPr>
          <p:cNvPr id="19" name="Picture 18">
            <a:extLst>
              <a:ext uri="{FF2B5EF4-FFF2-40B4-BE49-F238E27FC236}">
                <a16:creationId xmlns:a16="http://schemas.microsoft.com/office/drawing/2014/main" id="{AFC29AE1-4EB9-2F25-8895-9061749AED94}"/>
              </a:ext>
            </a:extLst>
          </p:cNvPr>
          <p:cNvPicPr>
            <a:picLocks noChangeAspect="1"/>
          </p:cNvPicPr>
          <p:nvPr/>
        </p:nvPicPr>
        <p:blipFill>
          <a:blip r:embed="rId4"/>
          <a:stretch>
            <a:fillRect/>
          </a:stretch>
        </p:blipFill>
        <p:spPr>
          <a:xfrm>
            <a:off x="1155087" y="6519980"/>
            <a:ext cx="12563214" cy="1090789"/>
          </a:xfrm>
          <a:prstGeom prst="rect">
            <a:avLst/>
          </a:prstGeom>
        </p:spPr>
      </p:pic>
    </p:spTree>
    <p:extLst>
      <p:ext uri="{BB962C8B-B14F-4D97-AF65-F5344CB8AC3E}">
        <p14:creationId xmlns:p14="http://schemas.microsoft.com/office/powerpoint/2010/main" val="1025700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876A-5E32-CC90-A229-A708D4B4FD6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4148EEF-85E6-EE82-0824-7BEAC660B294}"/>
              </a:ext>
            </a:extLst>
          </p:cNvPr>
          <p:cNvSpPr/>
          <p:nvPr/>
        </p:nvSpPr>
        <p:spPr>
          <a:xfrm>
            <a:off x="756447" y="10287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1DA03FF-8EE1-D068-2F4A-414C5079A55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D12C44C-D9DF-FC95-645C-EB80E3E831E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B0DBFCD3-8DC7-00E9-E0A6-2C401CCBF8C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6B3D39F-CAFF-AC93-F2D5-C9548B8E485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D5A0143-DF3D-BA64-3845-DBC49363BE52}"/>
              </a:ext>
            </a:extLst>
          </p:cNvPr>
          <p:cNvSpPr txBox="1"/>
          <p:nvPr/>
        </p:nvSpPr>
        <p:spPr>
          <a:xfrm>
            <a:off x="1155087" y="1381856"/>
            <a:ext cx="15804857" cy="1200329"/>
          </a:xfrm>
          <a:prstGeom prst="rect">
            <a:avLst/>
          </a:prstGeom>
          <a:noFill/>
        </p:spPr>
        <p:txBody>
          <a:bodyPr wrap="square" rtlCol="0">
            <a:spAutoFit/>
          </a:bodyPr>
          <a:lstStyle/>
          <a:p>
            <a:r>
              <a:rPr lang="en-MY" sz="2400" b="1" dirty="0"/>
              <a:t>Question 2 - Implement the heuristic and run GBFS and A⋆ </a:t>
            </a:r>
          </a:p>
          <a:p>
            <a:r>
              <a:rPr lang="en-MY" sz="2400" dirty="0"/>
              <a:t>Use the great-circle distance from the current airport to the goal as h(n). GBFS orders the frontier by </a:t>
            </a:r>
            <a:r>
              <a:rPr lang="en-MY" sz="2400" i="1" dirty="0"/>
              <a:t>h</a:t>
            </a:r>
            <a:r>
              <a:rPr lang="en-MY" sz="2400" dirty="0"/>
              <a:t> alone; </a:t>
            </a:r>
            <a:r>
              <a:rPr lang="en-MY" sz="2400" i="1" dirty="0"/>
              <a:t>A⋆</a:t>
            </a:r>
            <a:r>
              <a:rPr lang="en-MY" sz="2400" dirty="0"/>
              <a:t> by </a:t>
            </a:r>
            <a:r>
              <a:rPr lang="en-MY" sz="2400" i="1" dirty="0"/>
              <a:t>g +h</a:t>
            </a:r>
            <a:r>
              <a:rPr lang="en-MY" sz="2400" dirty="0"/>
              <a:t>. Write the heuristic as a function that fixes the goal, then run both algorithms.</a:t>
            </a:r>
          </a:p>
        </p:txBody>
      </p:sp>
      <p:sp>
        <p:nvSpPr>
          <p:cNvPr id="8" name="TextBox 7">
            <a:extLst>
              <a:ext uri="{FF2B5EF4-FFF2-40B4-BE49-F238E27FC236}">
                <a16:creationId xmlns:a16="http://schemas.microsoft.com/office/drawing/2014/main" id="{BD6CD104-8907-4F71-8B89-1261C1260317}"/>
              </a:ext>
            </a:extLst>
          </p:cNvPr>
          <p:cNvSpPr txBox="1"/>
          <p:nvPr/>
        </p:nvSpPr>
        <p:spPr>
          <a:xfrm>
            <a:off x="990599" y="242893"/>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sp>
        <p:nvSpPr>
          <p:cNvPr id="15" name="TextBox 14">
            <a:extLst>
              <a:ext uri="{FF2B5EF4-FFF2-40B4-BE49-F238E27FC236}">
                <a16:creationId xmlns:a16="http://schemas.microsoft.com/office/drawing/2014/main" id="{BBF9382D-7DEB-039A-F36A-0146CD28C026}"/>
              </a:ext>
            </a:extLst>
          </p:cNvPr>
          <p:cNvSpPr txBox="1"/>
          <p:nvPr/>
        </p:nvSpPr>
        <p:spPr>
          <a:xfrm>
            <a:off x="1155086" y="8198609"/>
            <a:ext cx="15956055" cy="1200329"/>
          </a:xfrm>
          <a:prstGeom prst="rect">
            <a:avLst/>
          </a:prstGeom>
          <a:noFill/>
        </p:spPr>
        <p:txBody>
          <a:bodyPr wrap="square">
            <a:spAutoFit/>
          </a:bodyPr>
          <a:lstStyle/>
          <a:p>
            <a:r>
              <a:rPr lang="en-MY" sz="2400" dirty="0"/>
              <a:t>A⋆ returns exactly the UCS cost on every query while expanding far fewer states. GBFS expands only a handful of states, but two of its three routes are longer because it ignores the distance already travelled. </a:t>
            </a:r>
            <a:r>
              <a:rPr lang="en-MY" sz="2400" dirty="0" err="1"/>
              <a:t>heuristic_to</a:t>
            </a:r>
            <a:r>
              <a:rPr lang="en-MY" sz="2400" dirty="0"/>
              <a:t> returns a function: the algorithms in utils accept any callable that maps a state to a number.</a:t>
            </a:r>
          </a:p>
        </p:txBody>
      </p:sp>
      <p:sp>
        <p:nvSpPr>
          <p:cNvPr id="17" name="TextBox 16">
            <a:extLst>
              <a:ext uri="{FF2B5EF4-FFF2-40B4-BE49-F238E27FC236}">
                <a16:creationId xmlns:a16="http://schemas.microsoft.com/office/drawing/2014/main" id="{02DE1A73-9D01-FD20-029E-AA265FFFFBAA}"/>
              </a:ext>
            </a:extLst>
          </p:cNvPr>
          <p:cNvSpPr txBox="1"/>
          <p:nvPr/>
        </p:nvSpPr>
        <p:spPr>
          <a:xfrm>
            <a:off x="1156288" y="5770438"/>
            <a:ext cx="9144000" cy="461665"/>
          </a:xfrm>
          <a:prstGeom prst="rect">
            <a:avLst/>
          </a:prstGeom>
          <a:noFill/>
        </p:spPr>
        <p:txBody>
          <a:bodyPr wrap="square">
            <a:spAutoFit/>
          </a:bodyPr>
          <a:lstStyle/>
          <a:p>
            <a:r>
              <a:rPr lang="en-MY" sz="2400" b="1" dirty="0"/>
              <a:t>Reference output.</a:t>
            </a:r>
          </a:p>
        </p:txBody>
      </p:sp>
      <p:pic>
        <p:nvPicPr>
          <p:cNvPr id="6" name="Picture 5">
            <a:extLst>
              <a:ext uri="{FF2B5EF4-FFF2-40B4-BE49-F238E27FC236}">
                <a16:creationId xmlns:a16="http://schemas.microsoft.com/office/drawing/2014/main" id="{9B57790C-EFE8-E836-BD9B-7A6C231BD4FF}"/>
              </a:ext>
            </a:extLst>
          </p:cNvPr>
          <p:cNvPicPr>
            <a:picLocks noChangeAspect="1"/>
          </p:cNvPicPr>
          <p:nvPr/>
        </p:nvPicPr>
        <p:blipFill>
          <a:blip r:embed="rId3"/>
          <a:stretch>
            <a:fillRect/>
          </a:stretch>
        </p:blipFill>
        <p:spPr>
          <a:xfrm>
            <a:off x="1155086" y="2645272"/>
            <a:ext cx="10907204" cy="3062078"/>
          </a:xfrm>
          <a:prstGeom prst="rect">
            <a:avLst/>
          </a:prstGeom>
        </p:spPr>
      </p:pic>
      <p:pic>
        <p:nvPicPr>
          <p:cNvPr id="13" name="Picture 12">
            <a:extLst>
              <a:ext uri="{FF2B5EF4-FFF2-40B4-BE49-F238E27FC236}">
                <a16:creationId xmlns:a16="http://schemas.microsoft.com/office/drawing/2014/main" id="{8D11A1EF-20CC-B083-863C-8960D08BFA40}"/>
              </a:ext>
            </a:extLst>
          </p:cNvPr>
          <p:cNvPicPr>
            <a:picLocks noChangeAspect="1"/>
          </p:cNvPicPr>
          <p:nvPr/>
        </p:nvPicPr>
        <p:blipFill>
          <a:blip r:embed="rId4"/>
          <a:stretch>
            <a:fillRect/>
          </a:stretch>
        </p:blipFill>
        <p:spPr>
          <a:xfrm>
            <a:off x="1155086" y="6438614"/>
            <a:ext cx="12212571" cy="1553484"/>
          </a:xfrm>
          <a:prstGeom prst="rect">
            <a:avLst/>
          </a:prstGeom>
        </p:spPr>
      </p:pic>
    </p:spTree>
    <p:extLst>
      <p:ext uri="{BB962C8B-B14F-4D97-AF65-F5344CB8AC3E}">
        <p14:creationId xmlns:p14="http://schemas.microsoft.com/office/powerpoint/2010/main" val="1130384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3A88-B921-824E-8B11-2796E116314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AB8BBE8-0F3A-CC2F-8127-7B5166AE3782}"/>
              </a:ext>
            </a:extLst>
          </p:cNvPr>
          <p:cNvSpPr/>
          <p:nvPr/>
        </p:nvSpPr>
        <p:spPr>
          <a:xfrm>
            <a:off x="897961" y="6926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7C22CE6-8D53-63E1-9831-66D954DE41E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EC1A35FA-985B-B421-E9A8-CFCE9B2DD1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66BED816-BE9F-6DFA-59DE-CF60ED075DF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165D80E-5CC1-E9AE-6C66-CA274DEAE20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71D6BF6-FD26-39ED-44AF-3B32995939F1}"/>
              </a:ext>
            </a:extLst>
          </p:cNvPr>
          <p:cNvSpPr txBox="1"/>
          <p:nvPr/>
        </p:nvSpPr>
        <p:spPr>
          <a:xfrm>
            <a:off x="990599" y="865259"/>
            <a:ext cx="15956055" cy="1569660"/>
          </a:xfrm>
          <a:prstGeom prst="rect">
            <a:avLst/>
          </a:prstGeom>
          <a:noFill/>
        </p:spPr>
        <p:txBody>
          <a:bodyPr wrap="square" rtlCol="0">
            <a:spAutoFit/>
          </a:bodyPr>
          <a:lstStyle/>
          <a:p>
            <a:r>
              <a:rPr lang="en-MY" sz="2400" b="1" dirty="0"/>
              <a:t>Question 3 - Check admissibility empirically </a:t>
            </a:r>
          </a:p>
          <a:p>
            <a:r>
              <a:rPr lang="en-MY" sz="2400" dirty="0"/>
              <a:t>An admissible heuristic never overestimates the true remaining cost. Run Dijkstra once on the reversed graph to get the exact cost from every airport to the goal, then compare h with that exact cost for ten airports spread across the range. Save heuristic_check.csv.</a:t>
            </a:r>
          </a:p>
        </p:txBody>
      </p:sp>
      <p:sp>
        <p:nvSpPr>
          <p:cNvPr id="8" name="TextBox 7">
            <a:extLst>
              <a:ext uri="{FF2B5EF4-FFF2-40B4-BE49-F238E27FC236}">
                <a16:creationId xmlns:a16="http://schemas.microsoft.com/office/drawing/2014/main" id="{8454DB70-EB66-CFE9-BA49-0D294330C8F8}"/>
              </a:ext>
            </a:extLst>
          </p:cNvPr>
          <p:cNvSpPr txBox="1"/>
          <p:nvPr/>
        </p:nvSpPr>
        <p:spPr>
          <a:xfrm>
            <a:off x="1066799" y="46269"/>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grpSp>
        <p:nvGrpSpPr>
          <p:cNvPr id="18" name="Group 17">
            <a:extLst>
              <a:ext uri="{FF2B5EF4-FFF2-40B4-BE49-F238E27FC236}">
                <a16:creationId xmlns:a16="http://schemas.microsoft.com/office/drawing/2014/main" id="{B2C71D9E-715D-F644-FC92-02149593B458}"/>
              </a:ext>
            </a:extLst>
          </p:cNvPr>
          <p:cNvGrpSpPr/>
          <p:nvPr/>
        </p:nvGrpSpPr>
        <p:grpSpPr>
          <a:xfrm>
            <a:off x="5346084" y="2434919"/>
            <a:ext cx="8350680" cy="6859097"/>
            <a:chOff x="1220399" y="2518936"/>
            <a:chExt cx="8350680" cy="6859097"/>
          </a:xfrm>
        </p:grpSpPr>
        <p:pic>
          <p:nvPicPr>
            <p:cNvPr id="7" name="Picture 6">
              <a:extLst>
                <a:ext uri="{FF2B5EF4-FFF2-40B4-BE49-F238E27FC236}">
                  <a16:creationId xmlns:a16="http://schemas.microsoft.com/office/drawing/2014/main" id="{F3B3905D-1729-71D7-9DE0-41ED5F42E9B7}"/>
                </a:ext>
              </a:extLst>
            </p:cNvPr>
            <p:cNvPicPr>
              <a:picLocks noChangeAspect="1"/>
            </p:cNvPicPr>
            <p:nvPr/>
          </p:nvPicPr>
          <p:blipFill>
            <a:blip r:embed="rId3"/>
            <a:stretch>
              <a:fillRect/>
            </a:stretch>
          </p:blipFill>
          <p:spPr>
            <a:xfrm>
              <a:off x="1220400" y="2518936"/>
              <a:ext cx="8350679" cy="2514729"/>
            </a:xfrm>
            <a:prstGeom prst="rect">
              <a:avLst/>
            </a:prstGeom>
          </p:spPr>
        </p:pic>
        <p:pic>
          <p:nvPicPr>
            <p:cNvPr id="14" name="Picture 13">
              <a:extLst>
                <a:ext uri="{FF2B5EF4-FFF2-40B4-BE49-F238E27FC236}">
                  <a16:creationId xmlns:a16="http://schemas.microsoft.com/office/drawing/2014/main" id="{9F53A8F6-4B5D-7E59-1040-9E53A2B60704}"/>
                </a:ext>
              </a:extLst>
            </p:cNvPr>
            <p:cNvPicPr>
              <a:picLocks noChangeAspect="1"/>
            </p:cNvPicPr>
            <p:nvPr/>
          </p:nvPicPr>
          <p:blipFill>
            <a:blip r:embed="rId4"/>
            <a:srcRect t="996"/>
            <a:stretch>
              <a:fillRect/>
            </a:stretch>
          </p:blipFill>
          <p:spPr>
            <a:xfrm>
              <a:off x="1220399" y="5033665"/>
              <a:ext cx="8350679" cy="4344368"/>
            </a:xfrm>
            <a:prstGeom prst="rect">
              <a:avLst/>
            </a:prstGeom>
          </p:spPr>
        </p:pic>
      </p:grpSp>
    </p:spTree>
    <p:extLst>
      <p:ext uri="{BB962C8B-B14F-4D97-AF65-F5344CB8AC3E}">
        <p14:creationId xmlns:p14="http://schemas.microsoft.com/office/powerpoint/2010/main" val="1057557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EE56-C2ED-2727-F84F-9D521464D4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41A49F3-1439-8226-2567-3EC53C76FEC1}"/>
              </a:ext>
            </a:extLst>
          </p:cNvPr>
          <p:cNvSpPr/>
          <p:nvPr/>
        </p:nvSpPr>
        <p:spPr>
          <a:xfrm>
            <a:off x="756447" y="1008286"/>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9242722-CD78-EBA6-6086-10BA8CEA97C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4E51A212-679D-26E5-C104-93F28943D0D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2B1DFC5F-36B7-CAEB-7BE3-BE6CFBDB5B0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27F28FB-43D8-5FFC-ED50-98E1A7B773A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D74F2FB-91E6-6668-2ECD-AC4636680CE6}"/>
              </a:ext>
            </a:extLst>
          </p:cNvPr>
          <p:cNvSpPr txBox="1"/>
          <p:nvPr/>
        </p:nvSpPr>
        <p:spPr>
          <a:xfrm>
            <a:off x="1155087" y="1423784"/>
            <a:ext cx="15956055" cy="523220"/>
          </a:xfrm>
          <a:prstGeom prst="rect">
            <a:avLst/>
          </a:prstGeom>
          <a:noFill/>
        </p:spPr>
        <p:txBody>
          <a:bodyPr wrap="square" rtlCol="0">
            <a:spAutoFit/>
          </a:bodyPr>
          <a:lstStyle/>
          <a:p>
            <a:r>
              <a:rPr lang="en-MY" sz="2800" b="1" dirty="0"/>
              <a:t>Reference output.</a:t>
            </a:r>
          </a:p>
        </p:txBody>
      </p:sp>
      <p:sp>
        <p:nvSpPr>
          <p:cNvPr id="8" name="TextBox 7">
            <a:extLst>
              <a:ext uri="{FF2B5EF4-FFF2-40B4-BE49-F238E27FC236}">
                <a16:creationId xmlns:a16="http://schemas.microsoft.com/office/drawing/2014/main" id="{58444DB8-2862-515A-ACA7-F3747943268B}"/>
              </a:ext>
            </a:extLst>
          </p:cNvPr>
          <p:cNvSpPr txBox="1"/>
          <p:nvPr/>
        </p:nvSpPr>
        <p:spPr>
          <a:xfrm>
            <a:off x="897961" y="265865"/>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pic>
        <p:nvPicPr>
          <p:cNvPr id="6" name="Picture 5">
            <a:extLst>
              <a:ext uri="{FF2B5EF4-FFF2-40B4-BE49-F238E27FC236}">
                <a16:creationId xmlns:a16="http://schemas.microsoft.com/office/drawing/2014/main" id="{7D55EEFE-12BF-7797-4AF0-0A7C064CAD85}"/>
              </a:ext>
            </a:extLst>
          </p:cNvPr>
          <p:cNvPicPr>
            <a:picLocks noChangeAspect="1"/>
          </p:cNvPicPr>
          <p:nvPr/>
        </p:nvPicPr>
        <p:blipFill>
          <a:blip r:embed="rId3"/>
          <a:stretch>
            <a:fillRect/>
          </a:stretch>
        </p:blipFill>
        <p:spPr>
          <a:xfrm>
            <a:off x="1170906" y="2154753"/>
            <a:ext cx="11924995" cy="2198614"/>
          </a:xfrm>
          <a:prstGeom prst="rect">
            <a:avLst/>
          </a:prstGeom>
        </p:spPr>
      </p:pic>
      <p:sp>
        <p:nvSpPr>
          <p:cNvPr id="13" name="TextBox 12">
            <a:extLst>
              <a:ext uri="{FF2B5EF4-FFF2-40B4-BE49-F238E27FC236}">
                <a16:creationId xmlns:a16="http://schemas.microsoft.com/office/drawing/2014/main" id="{A45C9CAF-A9DA-0708-E0C0-623878369A8F}"/>
              </a:ext>
            </a:extLst>
          </p:cNvPr>
          <p:cNvSpPr txBox="1"/>
          <p:nvPr/>
        </p:nvSpPr>
        <p:spPr>
          <a:xfrm>
            <a:off x="1155087" y="5677232"/>
            <a:ext cx="16320356" cy="1815882"/>
          </a:xfrm>
          <a:prstGeom prst="rect">
            <a:avLst/>
          </a:prstGeom>
          <a:noFill/>
        </p:spPr>
        <p:txBody>
          <a:bodyPr wrap="square">
            <a:spAutoFit/>
          </a:bodyPr>
          <a:lstStyle/>
          <a:p>
            <a:r>
              <a:rPr lang="en-MY" sz="2800" dirty="0"/>
              <a:t>Zero violations in thirty checks: the slack column is never negative. Haversine is admissible and consistent by the triangle inequality: direct distance cannot exceed any routed distance, or one flight plus the remaining direct distance. The table is an empirical check; the geometry is the guarantee. Reversing the graph turns “cost from the goal” into “cost to the goal”, which is what h estimates.</a:t>
            </a:r>
          </a:p>
        </p:txBody>
      </p:sp>
    </p:spTree>
    <p:extLst>
      <p:ext uri="{BB962C8B-B14F-4D97-AF65-F5344CB8AC3E}">
        <p14:creationId xmlns:p14="http://schemas.microsoft.com/office/powerpoint/2010/main" val="2822900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A1F84-8084-AB11-0EEB-ED156A9E035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4BD532-651E-FC1A-7914-2E2E3927497C}"/>
              </a:ext>
            </a:extLst>
          </p:cNvPr>
          <p:cNvSpPr/>
          <p:nvPr/>
        </p:nvSpPr>
        <p:spPr>
          <a:xfrm>
            <a:off x="897961" y="6926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C0AC4D7-C8F9-1EBA-2E0F-F12EB48D76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5B171245-B050-7E31-6008-8FB1345C07F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75301D2A-BF4D-10F5-E101-0F385C450F8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1D88D4F-0344-068C-591D-4C5065C21AB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19B1A08-92F1-DABF-8534-A3F57DCD5FF8}"/>
              </a:ext>
            </a:extLst>
          </p:cNvPr>
          <p:cNvSpPr txBox="1"/>
          <p:nvPr/>
        </p:nvSpPr>
        <p:spPr>
          <a:xfrm>
            <a:off x="990599" y="865259"/>
            <a:ext cx="15956055" cy="1200329"/>
          </a:xfrm>
          <a:prstGeom prst="rect">
            <a:avLst/>
          </a:prstGeom>
          <a:noFill/>
        </p:spPr>
        <p:txBody>
          <a:bodyPr wrap="square" rtlCol="0">
            <a:spAutoFit/>
          </a:bodyPr>
          <a:lstStyle/>
          <a:p>
            <a:r>
              <a:rPr lang="en-MY" sz="2400" b="1" dirty="0"/>
              <a:t>Question 4 - Compare the methods </a:t>
            </a:r>
          </a:p>
          <a:p>
            <a:r>
              <a:rPr lang="en-MY" sz="2400" dirty="0"/>
              <a:t>Put cost, hops, expanded nodes, maximum frontier and runtime for UCS, GBFS and A⋆ in one table, add the optimality gap relative to UCS, and save metrics.csv.</a:t>
            </a:r>
          </a:p>
        </p:txBody>
      </p:sp>
      <p:sp>
        <p:nvSpPr>
          <p:cNvPr id="8" name="TextBox 7">
            <a:extLst>
              <a:ext uri="{FF2B5EF4-FFF2-40B4-BE49-F238E27FC236}">
                <a16:creationId xmlns:a16="http://schemas.microsoft.com/office/drawing/2014/main" id="{7D08837F-CC0C-975A-7657-C132A28EA27C}"/>
              </a:ext>
            </a:extLst>
          </p:cNvPr>
          <p:cNvSpPr txBox="1"/>
          <p:nvPr/>
        </p:nvSpPr>
        <p:spPr>
          <a:xfrm>
            <a:off x="1066799" y="46269"/>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pic>
        <p:nvPicPr>
          <p:cNvPr id="6" name="Picture 5">
            <a:extLst>
              <a:ext uri="{FF2B5EF4-FFF2-40B4-BE49-F238E27FC236}">
                <a16:creationId xmlns:a16="http://schemas.microsoft.com/office/drawing/2014/main" id="{8A92C06D-2655-9D9E-8028-79C339008DF0}"/>
              </a:ext>
            </a:extLst>
          </p:cNvPr>
          <p:cNvPicPr>
            <a:picLocks noChangeAspect="1"/>
          </p:cNvPicPr>
          <p:nvPr/>
        </p:nvPicPr>
        <p:blipFill>
          <a:blip r:embed="rId3"/>
          <a:stretch>
            <a:fillRect/>
          </a:stretch>
        </p:blipFill>
        <p:spPr>
          <a:xfrm>
            <a:off x="1174082" y="2065588"/>
            <a:ext cx="10785608" cy="3988300"/>
          </a:xfrm>
          <a:prstGeom prst="rect">
            <a:avLst/>
          </a:prstGeom>
        </p:spPr>
      </p:pic>
      <p:sp>
        <p:nvSpPr>
          <p:cNvPr id="13" name="TextBox 12">
            <a:extLst>
              <a:ext uri="{FF2B5EF4-FFF2-40B4-BE49-F238E27FC236}">
                <a16:creationId xmlns:a16="http://schemas.microsoft.com/office/drawing/2014/main" id="{77D7FCBE-26BC-16DD-B5F6-C878F378B12C}"/>
              </a:ext>
            </a:extLst>
          </p:cNvPr>
          <p:cNvSpPr txBox="1"/>
          <p:nvPr/>
        </p:nvSpPr>
        <p:spPr>
          <a:xfrm>
            <a:off x="1174082" y="6284268"/>
            <a:ext cx="9144000" cy="461665"/>
          </a:xfrm>
          <a:prstGeom prst="rect">
            <a:avLst/>
          </a:prstGeom>
          <a:noFill/>
        </p:spPr>
        <p:txBody>
          <a:bodyPr wrap="square">
            <a:spAutoFit/>
          </a:bodyPr>
          <a:lstStyle/>
          <a:p>
            <a:r>
              <a:rPr lang="en-MY" sz="2400" b="1" dirty="0"/>
              <a:t>Reference output.</a:t>
            </a:r>
          </a:p>
        </p:txBody>
      </p:sp>
      <p:pic>
        <p:nvPicPr>
          <p:cNvPr id="16" name="Picture 15">
            <a:extLst>
              <a:ext uri="{FF2B5EF4-FFF2-40B4-BE49-F238E27FC236}">
                <a16:creationId xmlns:a16="http://schemas.microsoft.com/office/drawing/2014/main" id="{D72BD2CD-A508-B9FC-291B-D29BC7657A9D}"/>
              </a:ext>
            </a:extLst>
          </p:cNvPr>
          <p:cNvPicPr>
            <a:picLocks noChangeAspect="1"/>
          </p:cNvPicPr>
          <p:nvPr/>
        </p:nvPicPr>
        <p:blipFill>
          <a:blip r:embed="rId4"/>
          <a:stretch>
            <a:fillRect/>
          </a:stretch>
        </p:blipFill>
        <p:spPr>
          <a:xfrm>
            <a:off x="1174082" y="6849947"/>
            <a:ext cx="9602336" cy="2571794"/>
          </a:xfrm>
          <a:prstGeom prst="rect">
            <a:avLst/>
          </a:prstGeom>
        </p:spPr>
      </p:pic>
      <p:sp>
        <p:nvSpPr>
          <p:cNvPr id="19" name="TextBox 18">
            <a:extLst>
              <a:ext uri="{FF2B5EF4-FFF2-40B4-BE49-F238E27FC236}">
                <a16:creationId xmlns:a16="http://schemas.microsoft.com/office/drawing/2014/main" id="{5144A160-1349-A53C-6DD6-BFB84DDCF836}"/>
              </a:ext>
            </a:extLst>
          </p:cNvPr>
          <p:cNvSpPr txBox="1"/>
          <p:nvPr/>
        </p:nvSpPr>
        <p:spPr>
          <a:xfrm>
            <a:off x="11080676" y="6745933"/>
            <a:ext cx="6592391" cy="2492990"/>
          </a:xfrm>
          <a:prstGeom prst="rect">
            <a:avLst/>
          </a:prstGeom>
          <a:noFill/>
        </p:spPr>
        <p:txBody>
          <a:bodyPr wrap="square">
            <a:spAutoFit/>
          </a:bodyPr>
          <a:lstStyle/>
          <a:p>
            <a:r>
              <a:rPr lang="en-MY" sz="2600" dirty="0"/>
              <a:t>A⋆ keeps the UCS cost(gap 0%) while expanding roughly 96% fewer states. GBFS is the cheapest to run but returns routes up to 9% longer. The consistent Haversine heuristic buys speed without giving up optimality; greed buys more speed by giving it up.</a:t>
            </a:r>
          </a:p>
        </p:txBody>
      </p:sp>
    </p:spTree>
    <p:extLst>
      <p:ext uri="{BB962C8B-B14F-4D97-AF65-F5344CB8AC3E}">
        <p14:creationId xmlns:p14="http://schemas.microsoft.com/office/powerpoint/2010/main" val="1178343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CE054-BB47-6F65-C834-5D4CCA0B2B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4DD27C8-F2E8-B8C4-31C0-510CFE38396B}"/>
              </a:ext>
            </a:extLst>
          </p:cNvPr>
          <p:cNvSpPr/>
          <p:nvPr/>
        </p:nvSpPr>
        <p:spPr>
          <a:xfrm>
            <a:off x="897961" y="6926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9A5BC41-C4AA-9DE5-7871-0A93984A8B2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C2C7CDE0-EA17-8A85-561A-685CD50963E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340A2446-BC63-1AF9-76C5-FA52B5D7F43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CD659F3-9F9E-080A-A019-479544CD8D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B72DE56-93EF-61ED-C74C-8D1A8A032BE1}"/>
              </a:ext>
            </a:extLst>
          </p:cNvPr>
          <p:cNvSpPr txBox="1"/>
          <p:nvPr/>
        </p:nvSpPr>
        <p:spPr>
          <a:xfrm>
            <a:off x="990599" y="865259"/>
            <a:ext cx="15956055" cy="830997"/>
          </a:xfrm>
          <a:prstGeom prst="rect">
            <a:avLst/>
          </a:prstGeom>
          <a:noFill/>
        </p:spPr>
        <p:txBody>
          <a:bodyPr wrap="square" rtlCol="0">
            <a:spAutoFit/>
          </a:bodyPr>
          <a:lstStyle/>
          <a:p>
            <a:r>
              <a:rPr lang="en-MY" sz="2400" b="1" dirty="0"/>
              <a:t>Question 5-Stress the guarantee </a:t>
            </a:r>
          </a:p>
          <a:p>
            <a:r>
              <a:rPr lang="en-MY" sz="2400" dirty="0"/>
              <a:t>Repeat the queries with the inflated heuristic 1.5h (weighted A⋆). Explain when the returned cost changes.</a:t>
            </a:r>
          </a:p>
        </p:txBody>
      </p:sp>
      <p:sp>
        <p:nvSpPr>
          <p:cNvPr id="8" name="TextBox 7">
            <a:extLst>
              <a:ext uri="{FF2B5EF4-FFF2-40B4-BE49-F238E27FC236}">
                <a16:creationId xmlns:a16="http://schemas.microsoft.com/office/drawing/2014/main" id="{C63972B4-71D7-3974-53BD-BBDFA77931E1}"/>
              </a:ext>
            </a:extLst>
          </p:cNvPr>
          <p:cNvSpPr txBox="1"/>
          <p:nvPr/>
        </p:nvSpPr>
        <p:spPr>
          <a:xfrm>
            <a:off x="1066799" y="46269"/>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sp>
        <p:nvSpPr>
          <p:cNvPr id="13" name="TextBox 12">
            <a:extLst>
              <a:ext uri="{FF2B5EF4-FFF2-40B4-BE49-F238E27FC236}">
                <a16:creationId xmlns:a16="http://schemas.microsoft.com/office/drawing/2014/main" id="{C2535607-5148-8C5E-A7F6-26EB3C09526B}"/>
              </a:ext>
            </a:extLst>
          </p:cNvPr>
          <p:cNvSpPr txBox="1"/>
          <p:nvPr/>
        </p:nvSpPr>
        <p:spPr>
          <a:xfrm>
            <a:off x="1066799" y="5257884"/>
            <a:ext cx="9144000" cy="461665"/>
          </a:xfrm>
          <a:prstGeom prst="rect">
            <a:avLst/>
          </a:prstGeom>
          <a:noFill/>
        </p:spPr>
        <p:txBody>
          <a:bodyPr wrap="square">
            <a:spAutoFit/>
          </a:bodyPr>
          <a:lstStyle/>
          <a:p>
            <a:r>
              <a:rPr lang="en-MY" sz="2400" b="1" dirty="0"/>
              <a:t>Reference output.</a:t>
            </a:r>
          </a:p>
        </p:txBody>
      </p:sp>
      <p:sp>
        <p:nvSpPr>
          <p:cNvPr id="19" name="TextBox 18">
            <a:extLst>
              <a:ext uri="{FF2B5EF4-FFF2-40B4-BE49-F238E27FC236}">
                <a16:creationId xmlns:a16="http://schemas.microsoft.com/office/drawing/2014/main" id="{04E67984-E876-22F6-B08D-5DAB5731DF44}"/>
              </a:ext>
            </a:extLst>
          </p:cNvPr>
          <p:cNvSpPr txBox="1"/>
          <p:nvPr/>
        </p:nvSpPr>
        <p:spPr>
          <a:xfrm>
            <a:off x="1066799" y="7803629"/>
            <a:ext cx="16445916" cy="1569660"/>
          </a:xfrm>
          <a:prstGeom prst="rect">
            <a:avLst/>
          </a:prstGeom>
          <a:noFill/>
        </p:spPr>
        <p:txBody>
          <a:bodyPr wrap="square">
            <a:spAutoFit/>
          </a:bodyPr>
          <a:lstStyle/>
          <a:p>
            <a:r>
              <a:rPr lang="en-MY" sz="2400" dirty="0"/>
              <a:t>Multiplying h by 1.5 makes it inadmissible: it can now overestimate the remaining distance, so a route that looks closer to the goal is expanded first and returned. The cost changes when the optimal route detours through airports that are geographically further from the goal than a rival hop (Q1andQ3); when the optimal route already heads straight for the goal(Q2) nothing changes. Expansions fall to a handful; the price is a route up to 7% longer.</a:t>
            </a:r>
          </a:p>
        </p:txBody>
      </p:sp>
      <p:pic>
        <p:nvPicPr>
          <p:cNvPr id="7" name="Picture 6">
            <a:extLst>
              <a:ext uri="{FF2B5EF4-FFF2-40B4-BE49-F238E27FC236}">
                <a16:creationId xmlns:a16="http://schemas.microsoft.com/office/drawing/2014/main" id="{DDF65400-2F9B-1298-2C13-ED7DE4AA7C05}"/>
              </a:ext>
            </a:extLst>
          </p:cNvPr>
          <p:cNvPicPr>
            <a:picLocks noChangeAspect="1"/>
          </p:cNvPicPr>
          <p:nvPr/>
        </p:nvPicPr>
        <p:blipFill>
          <a:blip r:embed="rId3"/>
          <a:stretch>
            <a:fillRect/>
          </a:stretch>
        </p:blipFill>
        <p:spPr>
          <a:xfrm>
            <a:off x="1066799" y="1859423"/>
            <a:ext cx="11714474" cy="3169694"/>
          </a:xfrm>
          <a:prstGeom prst="rect">
            <a:avLst/>
          </a:prstGeom>
        </p:spPr>
      </p:pic>
      <p:pic>
        <p:nvPicPr>
          <p:cNvPr id="14" name="Picture 13">
            <a:extLst>
              <a:ext uri="{FF2B5EF4-FFF2-40B4-BE49-F238E27FC236}">
                <a16:creationId xmlns:a16="http://schemas.microsoft.com/office/drawing/2014/main" id="{6D612A22-F062-1DBE-9900-399D456CF669}"/>
              </a:ext>
            </a:extLst>
          </p:cNvPr>
          <p:cNvPicPr>
            <a:picLocks noChangeAspect="1"/>
          </p:cNvPicPr>
          <p:nvPr/>
        </p:nvPicPr>
        <p:blipFill>
          <a:blip r:embed="rId4"/>
          <a:stretch>
            <a:fillRect/>
          </a:stretch>
        </p:blipFill>
        <p:spPr>
          <a:xfrm>
            <a:off x="1147170" y="5751668"/>
            <a:ext cx="11553732" cy="1916829"/>
          </a:xfrm>
          <a:prstGeom prst="rect">
            <a:avLst/>
          </a:prstGeom>
        </p:spPr>
      </p:pic>
    </p:spTree>
    <p:extLst>
      <p:ext uri="{BB962C8B-B14F-4D97-AF65-F5344CB8AC3E}">
        <p14:creationId xmlns:p14="http://schemas.microsoft.com/office/powerpoint/2010/main" val="1184286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08668-0FAC-02AD-60D1-0B80B5572B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9596FDC-E565-51AF-E620-A16948DC40A0}"/>
              </a:ext>
            </a:extLst>
          </p:cNvPr>
          <p:cNvSpPr/>
          <p:nvPr/>
        </p:nvSpPr>
        <p:spPr>
          <a:xfrm>
            <a:off x="897961" y="888544"/>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A4540E7-881C-A531-320C-8F81C76A376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84B26C4B-5441-1816-C326-3E22E07D196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0A9D0110-53EE-47F3-A7CA-4808D01C78A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ED66770-D8DA-975C-0FE3-F545F3ADAD7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DF2678C-2662-BC58-46D6-5357DCFF980D}"/>
              </a:ext>
            </a:extLst>
          </p:cNvPr>
          <p:cNvSpPr txBox="1"/>
          <p:nvPr/>
        </p:nvSpPr>
        <p:spPr>
          <a:xfrm>
            <a:off x="1066797" y="1361555"/>
            <a:ext cx="15956055" cy="830997"/>
          </a:xfrm>
          <a:prstGeom prst="rect">
            <a:avLst/>
          </a:prstGeom>
          <a:noFill/>
        </p:spPr>
        <p:txBody>
          <a:bodyPr wrap="square" rtlCol="0">
            <a:spAutoFit/>
          </a:bodyPr>
          <a:lstStyle/>
          <a:p>
            <a:r>
              <a:rPr lang="en-MY" sz="2400" b="1" dirty="0"/>
              <a:t>Question 6- Save the evidence</a:t>
            </a:r>
          </a:p>
          <a:p>
            <a:r>
              <a:rPr lang="en-MY" sz="2400" dirty="0"/>
              <a:t>Save an expanded-nodes figure for UCS, GBFS and A⋆. The two tables were saved above.</a:t>
            </a:r>
          </a:p>
        </p:txBody>
      </p:sp>
      <p:sp>
        <p:nvSpPr>
          <p:cNvPr id="8" name="TextBox 7">
            <a:extLst>
              <a:ext uri="{FF2B5EF4-FFF2-40B4-BE49-F238E27FC236}">
                <a16:creationId xmlns:a16="http://schemas.microsoft.com/office/drawing/2014/main" id="{A19795C6-DE66-2099-B23A-1D6F805D72B1}"/>
              </a:ext>
            </a:extLst>
          </p:cNvPr>
          <p:cNvSpPr txBox="1"/>
          <p:nvPr/>
        </p:nvSpPr>
        <p:spPr>
          <a:xfrm>
            <a:off x="1066797" y="155428"/>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Heuristic Search on the Airline Network</a:t>
            </a:r>
          </a:p>
        </p:txBody>
      </p:sp>
      <p:sp>
        <p:nvSpPr>
          <p:cNvPr id="13" name="TextBox 12">
            <a:extLst>
              <a:ext uri="{FF2B5EF4-FFF2-40B4-BE49-F238E27FC236}">
                <a16:creationId xmlns:a16="http://schemas.microsoft.com/office/drawing/2014/main" id="{AD38874C-28DD-7FC3-CF61-10452EA57730}"/>
              </a:ext>
            </a:extLst>
          </p:cNvPr>
          <p:cNvSpPr txBox="1"/>
          <p:nvPr/>
        </p:nvSpPr>
        <p:spPr>
          <a:xfrm>
            <a:off x="1066797" y="5577372"/>
            <a:ext cx="9144000" cy="461665"/>
          </a:xfrm>
          <a:prstGeom prst="rect">
            <a:avLst/>
          </a:prstGeom>
          <a:noFill/>
        </p:spPr>
        <p:txBody>
          <a:bodyPr wrap="square">
            <a:spAutoFit/>
          </a:bodyPr>
          <a:lstStyle/>
          <a:p>
            <a:r>
              <a:rPr lang="en-MY" sz="2400" b="1" dirty="0"/>
              <a:t>Reference output.</a:t>
            </a:r>
          </a:p>
        </p:txBody>
      </p:sp>
      <p:sp>
        <p:nvSpPr>
          <p:cNvPr id="19" name="TextBox 18">
            <a:extLst>
              <a:ext uri="{FF2B5EF4-FFF2-40B4-BE49-F238E27FC236}">
                <a16:creationId xmlns:a16="http://schemas.microsoft.com/office/drawing/2014/main" id="{DEABB8AE-2F6A-3C3F-FC11-FD549A8EC85C}"/>
              </a:ext>
            </a:extLst>
          </p:cNvPr>
          <p:cNvSpPr txBox="1"/>
          <p:nvPr/>
        </p:nvSpPr>
        <p:spPr>
          <a:xfrm>
            <a:off x="1066797" y="7298308"/>
            <a:ext cx="15956055" cy="830997"/>
          </a:xfrm>
          <a:prstGeom prst="rect">
            <a:avLst/>
          </a:prstGeom>
          <a:noFill/>
        </p:spPr>
        <p:txBody>
          <a:bodyPr wrap="square">
            <a:spAutoFit/>
          </a:bodyPr>
          <a:lstStyle/>
          <a:p>
            <a:r>
              <a:rPr lang="en-MY" sz="2400" dirty="0"/>
              <a:t>Expanded-state counts are the primary effort measure; wall-clock times depend on the machine and should not be compared across computers.</a:t>
            </a:r>
          </a:p>
        </p:txBody>
      </p:sp>
      <p:grpSp>
        <p:nvGrpSpPr>
          <p:cNvPr id="16" name="Group 15">
            <a:extLst>
              <a:ext uri="{FF2B5EF4-FFF2-40B4-BE49-F238E27FC236}">
                <a16:creationId xmlns:a16="http://schemas.microsoft.com/office/drawing/2014/main" id="{04B236E9-B5D3-10D8-CDF3-90E333A6F554}"/>
              </a:ext>
            </a:extLst>
          </p:cNvPr>
          <p:cNvGrpSpPr/>
          <p:nvPr/>
        </p:nvGrpSpPr>
        <p:grpSpPr>
          <a:xfrm>
            <a:off x="1066797" y="2546080"/>
            <a:ext cx="12529459" cy="2580657"/>
            <a:chOff x="1066798" y="2009840"/>
            <a:chExt cx="11634104" cy="2162654"/>
          </a:xfrm>
        </p:grpSpPr>
        <p:pic>
          <p:nvPicPr>
            <p:cNvPr id="6" name="Picture 5">
              <a:extLst>
                <a:ext uri="{FF2B5EF4-FFF2-40B4-BE49-F238E27FC236}">
                  <a16:creationId xmlns:a16="http://schemas.microsoft.com/office/drawing/2014/main" id="{9CE343F6-4652-E645-279E-FF309AD8E7BC}"/>
                </a:ext>
              </a:extLst>
            </p:cNvPr>
            <p:cNvPicPr>
              <a:picLocks noChangeAspect="1"/>
            </p:cNvPicPr>
            <p:nvPr/>
          </p:nvPicPr>
          <p:blipFill>
            <a:blip r:embed="rId3"/>
            <a:stretch>
              <a:fillRect/>
            </a:stretch>
          </p:blipFill>
          <p:spPr>
            <a:xfrm>
              <a:off x="1066798" y="2009840"/>
              <a:ext cx="11634104" cy="647818"/>
            </a:xfrm>
            <a:prstGeom prst="rect">
              <a:avLst/>
            </a:prstGeom>
          </p:spPr>
        </p:pic>
        <p:pic>
          <p:nvPicPr>
            <p:cNvPr id="15" name="Picture 14">
              <a:extLst>
                <a:ext uri="{FF2B5EF4-FFF2-40B4-BE49-F238E27FC236}">
                  <a16:creationId xmlns:a16="http://schemas.microsoft.com/office/drawing/2014/main" id="{869BF2F4-9DF0-556C-C564-4A0A1744B117}"/>
                </a:ext>
              </a:extLst>
            </p:cNvPr>
            <p:cNvPicPr>
              <a:picLocks noChangeAspect="1"/>
            </p:cNvPicPr>
            <p:nvPr/>
          </p:nvPicPr>
          <p:blipFill>
            <a:blip r:embed="rId4"/>
            <a:srcRect t="4277"/>
            <a:stretch>
              <a:fillRect/>
            </a:stretch>
          </p:blipFill>
          <p:spPr>
            <a:xfrm>
              <a:off x="1066798" y="2624686"/>
              <a:ext cx="11634104" cy="1547808"/>
            </a:xfrm>
            <a:prstGeom prst="rect">
              <a:avLst/>
            </a:prstGeom>
          </p:spPr>
        </p:pic>
      </p:grpSp>
      <p:pic>
        <p:nvPicPr>
          <p:cNvPr id="18" name="Picture 17">
            <a:extLst>
              <a:ext uri="{FF2B5EF4-FFF2-40B4-BE49-F238E27FC236}">
                <a16:creationId xmlns:a16="http://schemas.microsoft.com/office/drawing/2014/main" id="{6854B5A5-C819-5E72-3531-10FBCC25D234}"/>
              </a:ext>
            </a:extLst>
          </p:cNvPr>
          <p:cNvPicPr>
            <a:picLocks noChangeAspect="1"/>
          </p:cNvPicPr>
          <p:nvPr/>
        </p:nvPicPr>
        <p:blipFill>
          <a:blip r:embed="rId5"/>
          <a:stretch>
            <a:fillRect/>
          </a:stretch>
        </p:blipFill>
        <p:spPr>
          <a:xfrm>
            <a:off x="1066797" y="6197805"/>
            <a:ext cx="12208230" cy="649868"/>
          </a:xfrm>
          <a:prstGeom prst="rect">
            <a:avLst/>
          </a:prstGeom>
        </p:spPr>
      </p:pic>
    </p:spTree>
    <p:extLst>
      <p:ext uri="{BB962C8B-B14F-4D97-AF65-F5344CB8AC3E}">
        <p14:creationId xmlns:p14="http://schemas.microsoft.com/office/powerpoint/2010/main" val="3849676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A0813-2914-DD38-F8C5-B5252B989A4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647ABC9-9DC0-8A5F-AB3C-6D038B95263E}"/>
              </a:ext>
            </a:extLst>
          </p:cNvPr>
          <p:cNvSpPr/>
          <p:nvPr/>
        </p:nvSpPr>
        <p:spPr>
          <a:xfrm>
            <a:off x="897961" y="888544"/>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D988338-DF2A-C5A4-0847-C6BE3872590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085C4130-6B73-D097-827D-6FB059AA65A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05</a:t>
            </a:r>
          </a:p>
        </p:txBody>
      </p:sp>
      <p:sp>
        <p:nvSpPr>
          <p:cNvPr id="10" name="Footer Placeholder 9">
            <a:extLst>
              <a:ext uri="{FF2B5EF4-FFF2-40B4-BE49-F238E27FC236}">
                <a16:creationId xmlns:a16="http://schemas.microsoft.com/office/drawing/2014/main" id="{6FC7DA2A-0773-7E97-A8E8-79009F2B0EA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E96C83B-AE9D-F7E6-B525-687E6779C07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403C148-0832-5A8E-54CB-1ABDE73D5ECB}"/>
              </a:ext>
            </a:extLst>
          </p:cNvPr>
          <p:cNvSpPr txBox="1"/>
          <p:nvPr/>
        </p:nvSpPr>
        <p:spPr>
          <a:xfrm>
            <a:off x="1066797" y="1691755"/>
            <a:ext cx="15956055" cy="3046988"/>
          </a:xfrm>
          <a:prstGeom prst="rect">
            <a:avLst/>
          </a:prstGeom>
          <a:noFill/>
        </p:spPr>
        <p:txBody>
          <a:bodyPr wrap="square" rtlCol="0">
            <a:spAutoFit/>
          </a:bodyPr>
          <a:lstStyle/>
          <a:p>
            <a:pPr marL="342900" indent="-342900">
              <a:buFont typeface="Arial" panose="020B0604020202020204" pitchFamily="34" charset="0"/>
              <a:buChar char="•"/>
            </a:pPr>
            <a:r>
              <a:rPr lang="en-MY" sz="2800" dirty="0"/>
              <a:t>UCS is “blind but safe” - it finds the most cheapest path, but by doing a lot of work.</a:t>
            </a:r>
          </a:p>
          <a:p>
            <a:pPr marL="342900" indent="-342900">
              <a:buFont typeface="Arial" panose="020B0604020202020204" pitchFamily="34" charset="0"/>
              <a:buChar char="•"/>
            </a:pPr>
            <a:r>
              <a:rPr lang="en-MY" sz="2800" dirty="0"/>
              <a:t>GBFS is "fast but risky“ - it does less work, but can sometimes give you the wrong path.</a:t>
            </a:r>
          </a:p>
          <a:p>
            <a:pPr marL="342900" indent="-342900">
              <a:buFont typeface="Arial" panose="020B0604020202020204" pitchFamily="34" charset="0"/>
              <a:buChar char="•"/>
            </a:pPr>
            <a:r>
              <a:rPr lang="en-MY" sz="2800" dirty="0"/>
              <a:t>A* is the best combination of both - as accurate as UCS, and as fast as GBFS, as long as the heuristic does not lie (remains admissible).</a:t>
            </a:r>
          </a:p>
          <a:p>
            <a:pPr marL="342900" indent="-342900">
              <a:buFont typeface="Arial" panose="020B0604020202020204" pitchFamily="34" charset="0"/>
              <a:buChar char="•"/>
            </a:pPr>
            <a:r>
              <a:rPr lang="en-MY" sz="2800" dirty="0"/>
              <a:t>Weighted A* intentionally lets the heuristic lie to get even more speed, but for that, you have to give up the guarantee of correctness.</a:t>
            </a:r>
          </a:p>
          <a:p>
            <a:endParaRPr lang="en-MY" sz="2400" dirty="0"/>
          </a:p>
        </p:txBody>
      </p:sp>
      <p:sp>
        <p:nvSpPr>
          <p:cNvPr id="8" name="TextBox 7">
            <a:extLst>
              <a:ext uri="{FF2B5EF4-FFF2-40B4-BE49-F238E27FC236}">
                <a16:creationId xmlns:a16="http://schemas.microsoft.com/office/drawing/2014/main" id="{A6246296-14DD-4553-09CC-B452E61DBF52}"/>
              </a:ext>
            </a:extLst>
          </p:cNvPr>
          <p:cNvSpPr txBox="1"/>
          <p:nvPr/>
        </p:nvSpPr>
        <p:spPr>
          <a:xfrm>
            <a:off x="1066797" y="155428"/>
            <a:ext cx="10156371" cy="646331"/>
          </a:xfrm>
          <a:prstGeom prst="rect">
            <a:avLst/>
          </a:prstGeom>
          <a:noFill/>
        </p:spPr>
        <p:txBody>
          <a:bodyPr wrap="square">
            <a:spAutoFit/>
          </a:bodyPr>
          <a:lstStyle/>
          <a:p>
            <a:r>
              <a:rPr lang="en-MY" sz="3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Summary</a:t>
            </a:r>
          </a:p>
        </p:txBody>
      </p:sp>
    </p:spTree>
    <p:extLst>
      <p:ext uri="{BB962C8B-B14F-4D97-AF65-F5344CB8AC3E}">
        <p14:creationId xmlns:p14="http://schemas.microsoft.com/office/powerpoint/2010/main" val="3049567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435865"/>
          </a:xfrm>
          <a:prstGeom prst="rect">
            <a:avLst/>
          </a:prstGeom>
        </p:spPr>
        <p:txBody>
          <a:bodyPr lIns="0" tIns="0" rIns="0" bIns="0" rtlCol="0" anchor="t">
            <a:spAutoFit/>
          </a:bodyPr>
          <a:lstStyle/>
          <a:p>
            <a:pPr marL="0" marR="0" lvl="0" indent="0" algn="ctr" defTabSz="457200" rtl="0" eaLnBrk="1" fontAlgn="auto" latinLnBrk="0" hangingPunct="1">
              <a:lnSpc>
                <a:spcPts val="3647"/>
              </a:lnSpc>
              <a:spcBef>
                <a:spcPts val="0"/>
              </a:spcBef>
              <a:spcAft>
                <a:spcPts val="0"/>
              </a:spcAft>
              <a:buClrTx/>
              <a:buSzTx/>
              <a:buFontTx/>
              <a:buNone/>
              <a:tabLst/>
              <a:defRPr/>
            </a:pPr>
            <a:r>
              <a:rPr kumimoji="0" lang="en-US" sz="2399" b="0" i="0" u="none" strike="noStrike" kern="1200" cap="none" spc="98"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LECTURER’S NAME</a:t>
            </a:r>
          </a:p>
        </p:txBody>
      </p:sp>
      <p:grpSp>
        <p:nvGrpSpPr>
          <p:cNvPr id="12" name="Group 12"/>
          <p:cNvGrpSpPr/>
          <p:nvPr/>
        </p:nvGrpSpPr>
        <p:grpSpPr>
          <a:xfrm>
            <a:off x="5509434" y="6611027"/>
            <a:ext cx="4701365" cy="787889"/>
            <a:chOff x="0" y="0"/>
            <a:chExt cx="6268485" cy="1050519"/>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3" y="58111"/>
              <a:ext cx="5258912" cy="992408"/>
            </a:xfrm>
            <a:prstGeom prst="rect">
              <a:avLst/>
            </a:prstGeom>
          </p:spPr>
          <p:txBody>
            <a:bodyPr wrap="square" lIns="0" tIns="0" rIns="0" bIns="0" rtlCol="0" anchor="t">
              <a:spAutoFit/>
            </a:bodyPr>
            <a:lstStyle/>
            <a:p>
              <a:pPr>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ea typeface="Aptos"/>
                  <a:cs typeface="Aptos"/>
                  <a:sym typeface="Aptos"/>
                </a:rPr>
                <a:t>FIZA_24004757@UTP.EDU.MY</a:t>
              </a:r>
            </a:p>
            <a:p>
              <a:pPr marL="0" marR="0" lvl="0" indent="0" algn="l" defTabSz="457200" rtl="0" eaLnBrk="1" fontAlgn="auto" latinLnBrk="0" hangingPunct="1">
                <a:lnSpc>
                  <a:spcPts val="3040"/>
                </a:lnSpc>
                <a:spcBef>
                  <a:spcPts val="0"/>
                </a:spcBef>
                <a:spcAft>
                  <a:spcPts val="0"/>
                </a:spcAft>
                <a:buClrTx/>
                <a:buSzTx/>
                <a:buFontTx/>
                <a:buNone/>
                <a:tabLst/>
                <a:defRPr/>
              </a:pPr>
              <a:endPar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grpSp>
        <p:nvGrpSpPr>
          <p:cNvPr id="15" name="Group 15"/>
          <p:cNvGrpSpPr/>
          <p:nvPr/>
        </p:nvGrpSpPr>
        <p:grpSpPr>
          <a:xfrm>
            <a:off x="5509434" y="7391229"/>
            <a:ext cx="4701364" cy="512496"/>
            <a:chOff x="0" y="0"/>
            <a:chExt cx="6268484"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4" y="75176"/>
              <a:ext cx="5258910"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ea typeface="Aptos"/>
                  <a:cs typeface="Aptos"/>
                  <a:sym typeface="Aptos"/>
                </a:rPr>
                <a:t>Lab 01-01-10: Data Analytic Lab</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05</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F8EABEC-D4DA-4635-9F5B-DEE1FFF379A2}">
  <ds:schemaRefs>
    <ds:schemaRef ds:uri="http://www.w3.org/XML/1998/namespace"/>
    <ds:schemaRef ds:uri="http://schemas.openxmlformats.org/package/2006/metadata/core-properties"/>
    <ds:schemaRef ds:uri="http://schemas.microsoft.com/office/2006/metadata/properties"/>
    <ds:schemaRef ds:uri="http://purl.org/dc/terms/"/>
    <ds:schemaRef ds:uri="f604542f-3f98-4180-a530-dccd8eb96459"/>
    <ds:schemaRef ds:uri="http://schemas.microsoft.com/office/2006/documentManagement/types"/>
    <ds:schemaRef ds:uri="http://schemas.microsoft.com/office/infopath/2007/PartnerControls"/>
    <ds:schemaRef ds:uri="161b1d0b-c5d9-4346-b7aa-7c23791df872"/>
    <ds:schemaRef ds:uri="http://schemas.microsoft.com/sharepoint/v3"/>
    <ds:schemaRef ds:uri="http://purl.org/dc/dcmitype/"/>
    <ds:schemaRef ds:uri="http://purl.org/dc/elements/1.1/"/>
  </ds:schemaRefs>
</ds:datastoreItem>
</file>

<file path=customXml/itemProps3.xml><?xml version="1.0" encoding="utf-8"?>
<ds:datastoreItem xmlns:ds="http://schemas.openxmlformats.org/officeDocument/2006/customXml" ds:itemID="{459B6550-91B7-456B-A940-ECDA25AB8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2536</TotalTime>
  <Words>2705</Words>
  <Application>Microsoft Office PowerPoint</Application>
  <PresentationFormat>Custom</PresentationFormat>
  <Paragraphs>198</Paragraphs>
  <Slides>21</Slides>
  <Notes>18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Cascadia Code</vt:lpstr>
      <vt:lpstr>Calibri</vt:lpstr>
      <vt:lpstr>Museo Sans 300</vt:lpstr>
      <vt:lpstr>Calibri Light</vt:lpstr>
      <vt:lpstr>Aptos</vt:lpstr>
      <vt:lpstr>Cambria Math</vt:lpstr>
      <vt:lpstr>Arial</vt:lpstr>
      <vt:lpstr>Segoe UI</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Beg Fiza</cp:lastModifiedBy>
  <cp:revision>3</cp:revision>
  <dcterms:created xsi:type="dcterms:W3CDTF">2006-08-16T00:00:00Z</dcterms:created>
  <dcterms:modified xsi:type="dcterms:W3CDTF">2026-10-07T00:21:13Z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